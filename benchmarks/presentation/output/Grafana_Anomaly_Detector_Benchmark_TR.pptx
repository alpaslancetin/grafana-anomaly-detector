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Final detector</c:v>
                </c:pt>
              </c:strCache>
            </c:strRef>
          </c:tx>
          <c:spPr>
            <a:solidFill>
              <a:srgbClr val="22C55E"/>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Precision</c:v>
                  </c:pt>
                  <c:pt idx="1">
                    <c:v>Recall</c:v>
                  </c:pt>
                  <c:pt idx="2">
                    <c:v>F1</c:v>
                  </c:pt>
                </c:lvl>
              </c:multiLvlStrCache>
            </c:multiLvlStrRef>
          </c:cat>
          <c:val>
            <c:numRef>
              <c:f>Sheet1!$B$2:$B$4</c:f>
              <c:numCache>
                <c:formatCode>General</c:formatCode>
                <c:ptCount val="3"/>
                <c:pt idx="0">
                  <c:v>1</c:v>
                </c:pt>
                <c:pt idx="1">
                  <c:v>1</c:v>
                </c:pt>
                <c:pt idx="2">
                  <c:v>1</c:v>
                </c:pt>
              </c:numCache>
            </c:numRef>
          </c:val>
        </c:ser>
        <c:ser>
          <c:idx val="1"/>
          <c:order val="1"/>
          <c:tx>
            <c:strRef>
              <c:f>Sheet1!$C$1</c:f>
              <c:strCache>
                <c:ptCount val="1"/>
                <c:pt idx="0">
                  <c:v>Elastic standard</c:v>
                </c:pt>
              </c:strCache>
            </c:strRef>
          </c:tx>
          <c:spPr>
            <a:solidFill>
              <a:srgbClr val="EF4444"/>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Precision</c:v>
                  </c:pt>
                  <c:pt idx="1">
                    <c:v>Recall</c:v>
                  </c:pt>
                  <c:pt idx="2">
                    <c:v>F1</c:v>
                  </c:pt>
                </c:lvl>
              </c:multiLvlStrCache>
            </c:multiLvlStrRef>
          </c:cat>
          <c:val>
            <c:numRef>
              <c:f>Sheet1!$C$2:$C$4</c:f>
              <c:numCache>
                <c:formatCode>General</c:formatCode>
                <c:ptCount val="3"/>
                <c:pt idx="0">
                  <c:v>0.3333</c:v>
                </c:pt>
                <c:pt idx="1">
                  <c:v>0.0972</c:v>
                </c:pt>
                <c:pt idx="2">
                  <c:v>0.1367</c:v>
                </c:pt>
              </c:numCache>
            </c:numRef>
          </c:val>
        </c:ser>
        <c:ser>
          <c:idx val="2"/>
          <c:order val="2"/>
          <c:tx>
            <c:strRef>
              <c:f>Sheet1!$D$1</c:f>
              <c:strCache>
                <c:ptCount val="1"/>
                <c:pt idx="0">
                  <c:v>Elastic best</c:v>
                </c:pt>
              </c:strCache>
            </c:strRef>
          </c:tx>
          <c:spPr>
            <a:solidFill>
              <a:srgbClr val="F59E0B"/>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Precision</c:v>
                  </c:pt>
                  <c:pt idx="1">
                    <c:v>Recall</c:v>
                  </c:pt>
                  <c:pt idx="2">
                    <c:v>F1</c:v>
                  </c:pt>
                </c:lvl>
              </c:multiLvlStrCache>
            </c:multiLvlStrRef>
          </c:cat>
          <c:val>
            <c:numRef>
              <c:f>Sheet1!$D$2:$D$4</c:f>
              <c:numCache>
                <c:formatCode>General</c:formatCode>
                <c:ptCount val="3"/>
                <c:pt idx="0">
                  <c:v>0.8043</c:v>
                </c:pt>
                <c:pt idx="1">
                  <c:v>0.6496</c:v>
                </c:pt>
                <c:pt idx="2">
                  <c:v>0.7067</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000000"/>
                </a:solidFill>
                <a:latin typeface="Aptos"/>
              </a:defRPr>
            </a:pPr>
            <a:endParaRPr lang="en-US"/>
          </a:p>
        </c:txPr>
        <c:crossAx val="2094734552"/>
        <c:crosses val="autoZero"/>
        <c:auto val="1"/>
        <c:lblAlgn val="ctr"/>
        <c:noMultiLvlLbl val="1"/>
      </c:catAx>
      <c:valAx>
        <c:axId val="2094734552"/>
        <c:scaling>
          <c:orientation val="minMax"/>
          <c:max val="1.05"/>
          <c:min val="0"/>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000000"/>
                </a:solidFill>
                <a:latin typeface="Aptos"/>
              </a:defRPr>
            </a:pPr>
            <a:endParaRPr lang="en-US"/>
          </a:p>
        </c:txPr>
        <c:crossAx val="2094734554"/>
        <c:crosses val="autoZero"/>
        <c:crossBetween val="between"/>
      </c:valAx>
      <c:spPr>
        <a:noFill/>
        <a:ln>
          <a:noFill/>
        </a:ln>
        <a:effectLst/>
      </c:spPr>
    </c:plotArea>
    <c:legend>
      <c:legendPos val="b"/>
      <c:overlay val="0"/>
      <c:txPr>
        <a:bodyPr/>
        <a:lstStyle/>
        <a:p>
          <a:pPr>
            <a:defRPr sz="900">
              <a:latin typeface="Aptos"/>
              <a:cs typeface="Aptos"/>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Eval duration (s)</c:v>
                </c:pt>
              </c:strCache>
            </c:strRef>
          </c:tx>
          <c:spPr>
            <a:solidFill>
              <a:srgbClr val="38BDF8"/>
            </a:solidFill>
            <a:ln w="25400" cap="flat">
              <a:solidFill>
                <a:srgbClr val="38BDF8"/>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38BDF8"/>
              </a:solidFill>
              <a:ln w="9525" cap="flat">
                <a:solidFill>
                  <a:srgbClr val="38BDF8"/>
                </a:solidFill>
                <a:prstDash val="solid"/>
                <a:round/>
              </a:ln>
              <a:effectLst/>
            </c:spPr>
          </c:marker>
          <c:cat>
            <c:multiLvlStrRef>
              <c:f>Sheet1!$A$2:$A$7</c:f>
              <c:multiLvlStrCache>
                <c:ptCount val="6"/>
                <c:lvl>
                  <c:pt idx="0">
                    <c:v>75</c:v>
                  </c:pt>
                  <c:pt idx="1">
                    <c:v>100</c:v>
                  </c:pt>
                  <c:pt idx="2">
                    <c:v>150</c:v>
                  </c:pt>
                  <c:pt idx="3">
                    <c:v>200</c:v>
                  </c:pt>
                  <c:pt idx="4">
                    <c:v>300</c:v>
                  </c:pt>
                  <c:pt idx="5">
                    <c:v>400</c:v>
                  </c:pt>
                </c:lvl>
              </c:multiLvlStrCache>
            </c:multiLvlStrRef>
          </c:cat>
          <c:val>
            <c:numRef>
              <c:f>Sheet1!$B$2:$B$7</c:f>
              <c:numCache>
                <c:formatCode>General</c:formatCode>
                <c:ptCount val="6"/>
                <c:pt idx="0">
                  <c:v>0.189857</c:v>
                </c:pt>
                <c:pt idx="1">
                  <c:v>0.243183</c:v>
                </c:pt>
                <c:pt idx="2">
                  <c:v>0.382123</c:v>
                </c:pt>
                <c:pt idx="3">
                  <c:v>0.527709</c:v>
                </c:pt>
                <c:pt idx="4">
                  <c:v>0.913882</c:v>
                </c:pt>
                <c:pt idx="5">
                  <c:v>1.020447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000000"/>
                </a:solidFill>
                <a:latin typeface="Aptos"/>
              </a:defRPr>
            </a:pPr>
            <a:endParaRPr lang="en-US"/>
          </a:p>
        </c:txPr>
        <c:crossAx val="2094734552"/>
        <c:crosses val="autoZero"/>
        <c:auto val="1"/>
        <c:lblAlgn val="ctr"/>
        <c:noMultiLvlLbl val="1"/>
      </c:catAx>
      <c:valAx>
        <c:axId val="2094734552"/>
        <c:scaling>
          <c:orientation val="minMax"/>
          <c:max val="1.4"/>
          <c:min val="0"/>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000000"/>
                </a:solidFill>
                <a:latin typeface="Aptos"/>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8111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8111F"/>
          </a:solidFill>
          <a:ln w="12700">
            <a:solidFill>
              <a:srgbClr val="08111F">
                <a:alpha val="0"/>
              </a:srgbClr>
            </a:solidFill>
            <a:prstDash val="solid"/>
          </a:ln>
        </p:spPr>
      </p:sp>
      <p:sp>
        <p:nvSpPr>
          <p:cNvPr id="3" name="Shape 1"/>
          <p:cNvSpPr/>
          <p:nvPr/>
        </p:nvSpPr>
        <p:spPr>
          <a:xfrm>
            <a:off x="502920" y="292608"/>
            <a:ext cx="11183112" cy="27432"/>
          </a:xfrm>
          <a:prstGeom prst="rect">
            <a:avLst/>
          </a:prstGeom>
          <a:solidFill>
            <a:srgbClr val="F97316"/>
          </a:solidFill>
          <a:ln w="12700">
            <a:solidFill>
              <a:srgbClr val="F97316">
                <a:alpha val="0"/>
              </a:srgbClr>
            </a:solidFill>
            <a:prstDash val="solid"/>
          </a:ln>
        </p:spPr>
      </p:sp>
      <p:sp>
        <p:nvSpPr>
          <p:cNvPr id="4" name="Text 2"/>
          <p:cNvSpPr/>
          <p:nvPr/>
        </p:nvSpPr>
        <p:spPr>
          <a:xfrm>
            <a:off x="640080" y="658368"/>
            <a:ext cx="5212080" cy="310896"/>
          </a:xfrm>
          <a:prstGeom prst="rect">
            <a:avLst/>
          </a:prstGeom>
          <a:noFill/>
          <a:ln/>
        </p:spPr>
        <p:txBody>
          <a:bodyPr wrap="square" lIns="0" tIns="0" rIns="0" bIns="0" rtlCol="0" anchor="ctr"/>
          <a:lstStyle/>
          <a:p>
            <a:pPr indent="0" marL="0">
              <a:buNone/>
            </a:pPr>
            <a:r>
              <a:rPr lang="en-US" sz="2600" b="1" dirty="0">
                <a:solidFill>
                  <a:srgbClr val="F7FAFC"/>
                </a:solidFill>
                <a:latin typeface="Aptos Display" pitchFamily="34" charset="0"/>
                <a:ea typeface="Aptos Display" pitchFamily="34" charset="-122"/>
                <a:cs typeface="Aptos Display" pitchFamily="34" charset="-120"/>
              </a:rPr>
              <a:t>Grafana Anomaly Detector</a:t>
            </a:r>
            <a:endParaRPr lang="en-US" sz="2600" dirty="0"/>
          </a:p>
        </p:txBody>
      </p:sp>
      <p:sp>
        <p:nvSpPr>
          <p:cNvPr id="5" name="Text 3"/>
          <p:cNvSpPr/>
          <p:nvPr/>
        </p:nvSpPr>
        <p:spPr>
          <a:xfrm>
            <a:off x="640080" y="1097280"/>
            <a:ext cx="5394960" cy="256032"/>
          </a:xfrm>
          <a:prstGeom prst="rect">
            <a:avLst/>
          </a:prstGeom>
          <a:noFill/>
          <a:ln/>
        </p:spPr>
        <p:txBody>
          <a:bodyPr wrap="square" lIns="0" tIns="0" rIns="0" bIns="0" rtlCol="0" anchor="ctr"/>
          <a:lstStyle/>
          <a:p>
            <a:pPr indent="0" marL="0">
              <a:buNone/>
            </a:pPr>
            <a:r>
              <a:rPr lang="en-US" sz="1200" dirty="0">
                <a:solidFill>
                  <a:srgbClr val="B8C4D5"/>
                </a:solidFill>
                <a:latin typeface="Aptos" pitchFamily="34" charset="0"/>
                <a:ea typeface="Aptos" pitchFamily="34" charset="-122"/>
                <a:cs typeface="Aptos" pitchFamily="34" charset="-120"/>
              </a:rPr>
              <a:t>Final benchmark revizyonu ve Elastic side-by-side sonucu</a:t>
            </a:r>
            <a:endParaRPr lang="en-US" sz="1200" dirty="0"/>
          </a:p>
        </p:txBody>
      </p:sp>
      <p:sp>
        <p:nvSpPr>
          <p:cNvPr id="6" name="Text 4"/>
          <p:cNvSpPr/>
          <p:nvPr/>
        </p:nvSpPr>
        <p:spPr>
          <a:xfrm>
            <a:off x="640080" y="1481328"/>
            <a:ext cx="4800600" cy="822960"/>
          </a:xfrm>
          <a:prstGeom prst="rect">
            <a:avLst/>
          </a:prstGeom>
          <a:noFill/>
          <a:ln/>
        </p:spPr>
        <p:txBody>
          <a:bodyPr wrap="square" lIns="0" tIns="0" rIns="0" bIns="0" rtlCol="0" anchor="t"/>
          <a:lstStyle/>
          <a:p>
            <a:pPr indent="0" marL="0">
              <a:buNone/>
            </a:pPr>
            <a:r>
              <a:rPr lang="en-US" sz="1100" dirty="0">
                <a:solidFill>
                  <a:srgbClr val="B8C4D5"/>
                </a:solidFill>
                <a:latin typeface="Aptos" pitchFamily="34" charset="0"/>
                <a:ea typeface="Aptos" pitchFamily="34" charset="-122"/>
                <a:cs typeface="Aptos" pitchFamily="34" charset="-120"/>
              </a:rPr>
              <a:t>Bu sunum, guncel plugin UX iyilestirmeleri sonrasinda ayni labeled dataset uzerinde ulasilan kaliteyi ve tasinabilen detector kapasitesini orijinal benchmark ciktilari ile gosterir.</a:t>
            </a:r>
            <a:endParaRPr lang="en-US" sz="1100" dirty="0"/>
          </a:p>
        </p:txBody>
      </p:sp>
      <p:sp>
        <p:nvSpPr>
          <p:cNvPr id="7" name="Text 5"/>
          <p:cNvSpPr/>
          <p:nvPr/>
        </p:nvSpPr>
        <p:spPr>
          <a:xfrm>
            <a:off x="640080" y="2395728"/>
            <a:ext cx="1417320" cy="274320"/>
          </a:xfrm>
          <a:prstGeom prst="rect">
            <a:avLst/>
          </a:prstGeom>
          <a:solidFill>
            <a:srgbClr val="F97316">
              <a:alpha val="20000"/>
            </a:srgbClr>
          </a:solidFill>
          <a:ln>
            <a:solidFill>
              <a:srgbClr val="F97316">
                <a:alpha val="0"/>
              </a:srgbClr>
            </a:solidFill>
          </a:ln>
        </p:spPr>
        <p:txBody>
          <a:bodyPr wrap="square" lIns="0" tIns="0" rIns="0" bIns="0" rtlCol="0" anchor="ctr"/>
          <a:lstStyle/>
          <a:p>
            <a:pPr algn="ctr" indent="0" marL="0">
              <a:buNone/>
            </a:pPr>
            <a:r>
              <a:rPr lang="en-US" sz="800" b="1" dirty="0">
                <a:solidFill>
                  <a:srgbClr val="F7FAFC"/>
                </a:solidFill>
                <a:latin typeface="Aptos" pitchFamily="34" charset="0"/>
                <a:ea typeface="Aptos" pitchFamily="34" charset="-122"/>
                <a:cs typeface="Aptos" pitchFamily="34" charset="-120"/>
              </a:rPr>
              <a:t>CANLI SONUC</a:t>
            </a:r>
            <a:endParaRPr lang="en-US" sz="800" dirty="0"/>
          </a:p>
        </p:txBody>
      </p:sp>
      <p:sp>
        <p:nvSpPr>
          <p:cNvPr id="8" name="Text 6"/>
          <p:cNvSpPr/>
          <p:nvPr/>
        </p:nvSpPr>
        <p:spPr>
          <a:xfrm>
            <a:off x="676656" y="2770632"/>
            <a:ext cx="4754880" cy="768096"/>
          </a:xfrm>
          <a:prstGeom prst="rect">
            <a:avLst/>
          </a:prstGeom>
          <a:noFill/>
          <a:ln/>
        </p:spPr>
        <p:txBody>
          <a:bodyPr wrap="square" lIns="0" tIns="0" rIns="0" bIns="0" rtlCol="0" anchor="t"/>
          <a:lstStyle/>
          <a:p>
            <a:pPr marL="152400" indent="-152400">
              <a:buSzPct val="100000"/>
              <a:buChar char="•"/>
            </a:pPr>
            <a:r>
              <a:rPr lang="en-US" sz="1100" dirty="0">
                <a:solidFill>
                  <a:srgbClr val="F7FAFC"/>
                </a:solidFill>
                <a:latin typeface="Aptos" pitchFamily="34" charset="0"/>
                <a:ea typeface="Aptos" pitchFamily="34" charset="-122"/>
                <a:cs typeface="Aptos" pitchFamily="34" charset="-120"/>
              </a:rPr>
              <a:t>Final detector, 6 benchmark senaryosunun 6'sinda da basarili oldu.</a:t>
            </a:r>
            <a:endParaRPr lang="en-US" sz="1100" dirty="0"/>
          </a:p>
          <a:p>
            <a:pPr marL="152400" indent="-152400">
              <a:buSzPct val="100000"/>
              <a:buChar char="•"/>
            </a:pPr>
            <a:r>
              <a:rPr lang="en-US" sz="1100" dirty="0">
                <a:solidFill>
                  <a:srgbClr val="F7FAFC"/>
                </a:solidFill>
                <a:latin typeface="Aptos" pitchFamily="34" charset="0"/>
                <a:ea typeface="Aptos" pitchFamily="34" charset="-122"/>
                <a:cs typeface="Aptos" pitchFamily="34" charset="-120"/>
              </a:rPr>
              <a:t>Ayni dataset uzerinde Elastic ML'in trial runtime sonucundan daha yuksek kalite olculdu.</a:t>
            </a:r>
            <a:endParaRPr lang="en-US" sz="1100" dirty="0"/>
          </a:p>
          <a:p>
            <a:pPr marL="152400" indent="-152400">
              <a:buSzPct val="100000"/>
              <a:buChar char="•"/>
            </a:pPr>
            <a:r>
              <a:rPr lang="en-US" sz="1100" dirty="0">
                <a:solidFill>
                  <a:srgbClr val="F7FAFC"/>
                </a:solidFill>
                <a:latin typeface="Aptos" pitchFamily="34" charset="0"/>
                <a:ea typeface="Aptos" pitchFamily="34" charset="-122"/>
                <a:cs typeface="Aptos" pitchFamily="34" charset="-120"/>
              </a:rPr>
              <a:t>300, 350 ve 400 detector seviyeleri dashboard + render + alert query ile birlikte kisa soak testini gecti.</a:t>
            </a:r>
            <a:endParaRPr lang="en-US" sz="1100" dirty="0"/>
          </a:p>
        </p:txBody>
      </p:sp>
      <p:sp>
        <p:nvSpPr>
          <p:cNvPr id="9" name="Shape 7"/>
          <p:cNvSpPr/>
          <p:nvPr/>
        </p:nvSpPr>
        <p:spPr>
          <a:xfrm>
            <a:off x="640080" y="5074920"/>
            <a:ext cx="1645920" cy="987552"/>
          </a:xfrm>
          <a:prstGeom prst="roundRect">
            <a:avLst>
              <a:gd name="adj" fmla="val 7407"/>
            </a:avLst>
          </a:prstGeom>
          <a:solidFill>
            <a:srgbClr val="0F1A2B"/>
          </a:solidFill>
          <a:ln w="12700">
            <a:solidFill>
              <a:srgbClr val="22314B"/>
            </a:solidFill>
            <a:prstDash val="solid"/>
          </a:ln>
          <a:effectLst>
            <a:outerShdw sx="100000" sy="100000" kx="0" ky="0" algn="bl" rotWithShape="0" blurRad="25400" dist="12700" dir="2700000">
              <a:srgbClr val="000000">
                <a:alpha val="20000"/>
              </a:srgbClr>
            </a:outerShdw>
          </a:effectLst>
        </p:spPr>
      </p:sp>
      <p:sp>
        <p:nvSpPr>
          <p:cNvPr id="10" name="Text 8"/>
          <p:cNvSpPr/>
          <p:nvPr/>
        </p:nvSpPr>
        <p:spPr>
          <a:xfrm>
            <a:off x="804672" y="5202936"/>
            <a:ext cx="1316736" cy="164592"/>
          </a:xfrm>
          <a:prstGeom prst="rect">
            <a:avLst/>
          </a:prstGeom>
          <a:noFill/>
          <a:ln/>
        </p:spPr>
        <p:txBody>
          <a:bodyPr wrap="square" lIns="0" tIns="0" rIns="0" bIns="0" rtlCol="0" anchor="ctr"/>
          <a:lstStyle/>
          <a:p>
            <a:pPr indent="0" marL="0">
              <a:buNone/>
            </a:pPr>
            <a:r>
              <a:rPr lang="en-US" sz="900" b="1" dirty="0">
                <a:solidFill>
                  <a:srgbClr val="B8C4D5"/>
                </a:solidFill>
                <a:latin typeface="Aptos" pitchFamily="34" charset="0"/>
                <a:ea typeface="Aptos" pitchFamily="34" charset="-122"/>
                <a:cs typeface="Aptos" pitchFamily="34" charset="-120"/>
              </a:rPr>
              <a:t>Mean F1</a:t>
            </a:r>
            <a:endParaRPr lang="en-US" sz="900" dirty="0"/>
          </a:p>
        </p:txBody>
      </p:sp>
      <p:sp>
        <p:nvSpPr>
          <p:cNvPr id="11" name="Text 9"/>
          <p:cNvSpPr/>
          <p:nvPr/>
        </p:nvSpPr>
        <p:spPr>
          <a:xfrm>
            <a:off x="804672" y="5422392"/>
            <a:ext cx="1316736" cy="274320"/>
          </a:xfrm>
          <a:prstGeom prst="rect">
            <a:avLst/>
          </a:prstGeom>
          <a:noFill/>
          <a:ln/>
        </p:spPr>
        <p:txBody>
          <a:bodyPr wrap="square" lIns="0" tIns="0" rIns="0" bIns="0" rtlCol="0" anchor="ctr"/>
          <a:lstStyle/>
          <a:p>
            <a:pPr indent="0" marL="0">
              <a:buNone/>
            </a:pPr>
            <a:r>
              <a:rPr lang="en-US" sz="1900" b="1" dirty="0">
                <a:solidFill>
                  <a:srgbClr val="22C55E"/>
                </a:solidFill>
                <a:latin typeface="Aptos Display" pitchFamily="34" charset="0"/>
                <a:ea typeface="Aptos Display" pitchFamily="34" charset="-122"/>
                <a:cs typeface="Aptos Display" pitchFamily="34" charset="-120"/>
              </a:rPr>
              <a:t>1.00</a:t>
            </a:r>
            <a:endParaRPr lang="en-US" sz="1900" dirty="0"/>
          </a:p>
        </p:txBody>
      </p:sp>
      <p:sp>
        <p:nvSpPr>
          <p:cNvPr id="12" name="Text 10"/>
          <p:cNvSpPr/>
          <p:nvPr/>
        </p:nvSpPr>
        <p:spPr>
          <a:xfrm>
            <a:off x="804672" y="5769864"/>
            <a:ext cx="1316736" cy="182880"/>
          </a:xfrm>
          <a:prstGeom prst="rect">
            <a:avLst/>
          </a:prstGeom>
          <a:noFill/>
          <a:ln/>
        </p:spPr>
        <p:txBody>
          <a:bodyPr wrap="square" lIns="0" tIns="0" rIns="0" bIns="0" rtlCol="0" anchor="t"/>
          <a:lstStyle/>
          <a:p>
            <a:pPr indent="0" marL="0">
              <a:buNone/>
            </a:pPr>
            <a:r>
              <a:rPr lang="en-US" sz="900" dirty="0">
                <a:solidFill>
                  <a:srgbClr val="B8C4D5"/>
                </a:solidFill>
                <a:latin typeface="Aptos" pitchFamily="34" charset="0"/>
                <a:ea typeface="Aptos" pitchFamily="34" charset="-122"/>
                <a:cs typeface="Aptos" pitchFamily="34" charset="-120"/>
              </a:rPr>
              <a:t>Final detector sonucu</a:t>
            </a:r>
            <a:endParaRPr lang="en-US" sz="900" dirty="0"/>
          </a:p>
        </p:txBody>
      </p:sp>
      <p:sp>
        <p:nvSpPr>
          <p:cNvPr id="13" name="Shape 11"/>
          <p:cNvSpPr/>
          <p:nvPr/>
        </p:nvSpPr>
        <p:spPr>
          <a:xfrm>
            <a:off x="2450592" y="5074920"/>
            <a:ext cx="1645920" cy="987552"/>
          </a:xfrm>
          <a:prstGeom prst="roundRect">
            <a:avLst>
              <a:gd name="adj" fmla="val 7407"/>
            </a:avLst>
          </a:prstGeom>
          <a:solidFill>
            <a:srgbClr val="0F1A2B"/>
          </a:solidFill>
          <a:ln w="12700">
            <a:solidFill>
              <a:srgbClr val="22314B"/>
            </a:solidFill>
            <a:prstDash val="solid"/>
          </a:ln>
          <a:effectLst>
            <a:outerShdw sx="100000" sy="100000" kx="0" ky="0" algn="bl" rotWithShape="0" blurRad="25400" dist="12700" dir="2700000">
              <a:srgbClr val="000000">
                <a:alpha val="20000"/>
              </a:srgbClr>
            </a:outerShdw>
          </a:effectLst>
        </p:spPr>
      </p:sp>
      <p:sp>
        <p:nvSpPr>
          <p:cNvPr id="14" name="Text 12"/>
          <p:cNvSpPr/>
          <p:nvPr/>
        </p:nvSpPr>
        <p:spPr>
          <a:xfrm>
            <a:off x="2615184" y="5202936"/>
            <a:ext cx="1316736" cy="164592"/>
          </a:xfrm>
          <a:prstGeom prst="rect">
            <a:avLst/>
          </a:prstGeom>
          <a:noFill/>
          <a:ln/>
        </p:spPr>
        <p:txBody>
          <a:bodyPr wrap="square" lIns="0" tIns="0" rIns="0" bIns="0" rtlCol="0" anchor="ctr"/>
          <a:lstStyle/>
          <a:p>
            <a:pPr indent="0" marL="0">
              <a:buNone/>
            </a:pPr>
            <a:r>
              <a:rPr lang="en-US" sz="900" b="1" dirty="0">
                <a:solidFill>
                  <a:srgbClr val="B8C4D5"/>
                </a:solidFill>
                <a:latin typeface="Aptos" pitchFamily="34" charset="0"/>
                <a:ea typeface="Aptos" pitchFamily="34" charset="-122"/>
                <a:cs typeface="Aptos" pitchFamily="34" charset="-120"/>
              </a:rPr>
              <a:t>Elastic best F1</a:t>
            </a:r>
            <a:endParaRPr lang="en-US" sz="900" dirty="0"/>
          </a:p>
        </p:txBody>
      </p:sp>
      <p:sp>
        <p:nvSpPr>
          <p:cNvPr id="15" name="Text 13"/>
          <p:cNvSpPr/>
          <p:nvPr/>
        </p:nvSpPr>
        <p:spPr>
          <a:xfrm>
            <a:off x="2615184" y="5422392"/>
            <a:ext cx="1316736" cy="274320"/>
          </a:xfrm>
          <a:prstGeom prst="rect">
            <a:avLst/>
          </a:prstGeom>
          <a:noFill/>
          <a:ln/>
        </p:spPr>
        <p:txBody>
          <a:bodyPr wrap="square" lIns="0" tIns="0" rIns="0" bIns="0" rtlCol="0" anchor="ctr"/>
          <a:lstStyle/>
          <a:p>
            <a:pPr indent="0" marL="0">
              <a:buNone/>
            </a:pPr>
            <a:r>
              <a:rPr lang="en-US" sz="1900" b="1" dirty="0">
                <a:solidFill>
                  <a:srgbClr val="F59E0B"/>
                </a:solidFill>
                <a:latin typeface="Aptos Display" pitchFamily="34" charset="0"/>
                <a:ea typeface="Aptos Display" pitchFamily="34" charset="-122"/>
                <a:cs typeface="Aptos Display" pitchFamily="34" charset="-120"/>
              </a:rPr>
              <a:t>0.71</a:t>
            </a:r>
            <a:endParaRPr lang="en-US" sz="1900" dirty="0"/>
          </a:p>
        </p:txBody>
      </p:sp>
      <p:sp>
        <p:nvSpPr>
          <p:cNvPr id="16" name="Text 14"/>
          <p:cNvSpPr/>
          <p:nvPr/>
        </p:nvSpPr>
        <p:spPr>
          <a:xfrm>
            <a:off x="2615184" y="5769864"/>
            <a:ext cx="1316736" cy="182880"/>
          </a:xfrm>
          <a:prstGeom prst="rect">
            <a:avLst/>
          </a:prstGeom>
          <a:noFill/>
          <a:ln/>
        </p:spPr>
        <p:txBody>
          <a:bodyPr wrap="square" lIns="0" tIns="0" rIns="0" bIns="0" rtlCol="0" anchor="t"/>
          <a:lstStyle/>
          <a:p>
            <a:pPr indent="0" marL="0">
              <a:buNone/>
            </a:pPr>
            <a:r>
              <a:rPr lang="en-US" sz="900" dirty="0">
                <a:solidFill>
                  <a:srgbClr val="B8C4D5"/>
                </a:solidFill>
                <a:latin typeface="Aptos" pitchFamily="34" charset="0"/>
                <a:ea typeface="Aptos" pitchFamily="34" charset="-122"/>
                <a:cs typeface="Aptos" pitchFamily="34" charset="-120"/>
              </a:rPr>
              <a:t>Ayni dataset, en iyi threshold</a:t>
            </a:r>
            <a:endParaRPr lang="en-US" sz="900" dirty="0"/>
          </a:p>
        </p:txBody>
      </p:sp>
      <p:sp>
        <p:nvSpPr>
          <p:cNvPr id="17" name="Shape 15"/>
          <p:cNvSpPr/>
          <p:nvPr/>
        </p:nvSpPr>
        <p:spPr>
          <a:xfrm>
            <a:off x="4261104" y="5074920"/>
            <a:ext cx="1645920" cy="987552"/>
          </a:xfrm>
          <a:prstGeom prst="roundRect">
            <a:avLst>
              <a:gd name="adj" fmla="val 7407"/>
            </a:avLst>
          </a:prstGeom>
          <a:solidFill>
            <a:srgbClr val="0F1A2B"/>
          </a:solidFill>
          <a:ln w="12700">
            <a:solidFill>
              <a:srgbClr val="22314B"/>
            </a:solidFill>
            <a:prstDash val="solid"/>
          </a:ln>
          <a:effectLst>
            <a:outerShdw sx="100000" sy="100000" kx="0" ky="0" algn="bl" rotWithShape="0" blurRad="25400" dist="12700" dir="2700000">
              <a:srgbClr val="000000">
                <a:alpha val="20000"/>
              </a:srgbClr>
            </a:outerShdw>
          </a:effectLst>
        </p:spPr>
      </p:sp>
      <p:sp>
        <p:nvSpPr>
          <p:cNvPr id="18" name="Text 16"/>
          <p:cNvSpPr/>
          <p:nvPr/>
        </p:nvSpPr>
        <p:spPr>
          <a:xfrm>
            <a:off x="4425696" y="5202936"/>
            <a:ext cx="1316736" cy="164592"/>
          </a:xfrm>
          <a:prstGeom prst="rect">
            <a:avLst/>
          </a:prstGeom>
          <a:noFill/>
          <a:ln/>
        </p:spPr>
        <p:txBody>
          <a:bodyPr wrap="square" lIns="0" tIns="0" rIns="0" bIns="0" rtlCol="0" anchor="ctr"/>
          <a:lstStyle/>
          <a:p>
            <a:pPr indent="0" marL="0">
              <a:buNone/>
            </a:pPr>
            <a:r>
              <a:rPr lang="en-US" sz="900" b="1" dirty="0">
                <a:solidFill>
                  <a:srgbClr val="B8C4D5"/>
                </a:solidFill>
                <a:latin typeface="Aptos" pitchFamily="34" charset="0"/>
                <a:ea typeface="Aptos" pitchFamily="34" charset="-122"/>
                <a:cs typeface="Aptos" pitchFamily="34" charset="-120"/>
              </a:rPr>
              <a:t>Short soak</a:t>
            </a:r>
            <a:endParaRPr lang="en-US" sz="900" dirty="0"/>
          </a:p>
        </p:txBody>
      </p:sp>
      <p:sp>
        <p:nvSpPr>
          <p:cNvPr id="19" name="Text 17"/>
          <p:cNvSpPr/>
          <p:nvPr/>
        </p:nvSpPr>
        <p:spPr>
          <a:xfrm>
            <a:off x="4425696" y="5422392"/>
            <a:ext cx="1316736" cy="274320"/>
          </a:xfrm>
          <a:prstGeom prst="rect">
            <a:avLst/>
          </a:prstGeom>
          <a:noFill/>
          <a:ln/>
        </p:spPr>
        <p:txBody>
          <a:bodyPr wrap="square" lIns="0" tIns="0" rIns="0" bIns="0" rtlCol="0" anchor="ctr"/>
          <a:lstStyle/>
          <a:p>
            <a:pPr indent="0" marL="0">
              <a:buNone/>
            </a:pPr>
            <a:r>
              <a:rPr lang="en-US" sz="1900" b="1" dirty="0">
                <a:solidFill>
                  <a:srgbClr val="38BDF8"/>
                </a:solidFill>
                <a:latin typeface="Aptos Display" pitchFamily="34" charset="0"/>
                <a:ea typeface="Aptos Display" pitchFamily="34" charset="-122"/>
                <a:cs typeface="Aptos Display" pitchFamily="34" charset="-120"/>
              </a:rPr>
              <a:t>400 PASS</a:t>
            </a:r>
            <a:endParaRPr lang="en-US" sz="1900" dirty="0"/>
          </a:p>
        </p:txBody>
      </p:sp>
      <p:sp>
        <p:nvSpPr>
          <p:cNvPr id="20" name="Text 18"/>
          <p:cNvSpPr/>
          <p:nvPr/>
        </p:nvSpPr>
        <p:spPr>
          <a:xfrm>
            <a:off x="4425696" y="5769864"/>
            <a:ext cx="1316736" cy="182880"/>
          </a:xfrm>
          <a:prstGeom prst="rect">
            <a:avLst/>
          </a:prstGeom>
          <a:noFill/>
          <a:ln/>
        </p:spPr>
        <p:txBody>
          <a:bodyPr wrap="square" lIns="0" tIns="0" rIns="0" bIns="0" rtlCol="0" anchor="t"/>
          <a:lstStyle/>
          <a:p>
            <a:pPr indent="0" marL="0">
              <a:buNone/>
            </a:pPr>
            <a:r>
              <a:rPr lang="en-US" sz="900" dirty="0">
                <a:solidFill>
                  <a:srgbClr val="B8C4D5"/>
                </a:solidFill>
                <a:latin typeface="Aptos" pitchFamily="34" charset="0"/>
                <a:ea typeface="Aptos" pitchFamily="34" charset="-122"/>
                <a:cs typeface="Aptos" pitchFamily="34" charset="-120"/>
              </a:rPr>
              <a:t>Dashboard + render + alert path acik</a:t>
            </a:r>
            <a:endParaRPr lang="en-US" sz="900" dirty="0"/>
          </a:p>
        </p:txBody>
      </p:sp>
      <p:sp>
        <p:nvSpPr>
          <p:cNvPr id="21" name="Shape 19"/>
          <p:cNvSpPr/>
          <p:nvPr/>
        </p:nvSpPr>
        <p:spPr>
          <a:xfrm>
            <a:off x="6199632" y="658368"/>
            <a:ext cx="5349240" cy="5623560"/>
          </a:xfrm>
          <a:prstGeom prst="roundRect">
            <a:avLst>
              <a:gd name="adj" fmla="val 1368"/>
            </a:avLst>
          </a:prstGeom>
          <a:solidFill>
            <a:srgbClr val="0C1627"/>
          </a:solidFill>
          <a:ln w="12700">
            <a:solidFill>
              <a:srgbClr val="22314B"/>
            </a:solidFill>
            <a:prstDash val="solid"/>
          </a:ln>
          <a:effectLst>
            <a:outerShdw sx="100000" sy="100000" kx="0" ky="0" algn="bl" rotWithShape="0" blurRad="25400" dist="12700" dir="2700000">
              <a:srgbClr val="000000">
                <a:alpha val="20000"/>
              </a:srgbClr>
            </a:outerShdw>
          </a:effectLst>
        </p:spPr>
      </p:sp>
      <p:pic>
        <p:nvPicPr>
          <p:cNvPr id="22" name="Image 0" descr="C:\Users\alpas\Documents\CodexSample\grafana-anomaly-lab\benchmarks\presentation\assets\screenshots\grafana-multi-metric-premium.png">    </p:cNvPr>
          <p:cNvPicPr>
            <a:picLocks noChangeAspect="1"/>
          </p:cNvPicPr>
          <p:nvPr/>
        </p:nvPicPr>
        <p:blipFill>
          <a:blip r:embed="rId1"/>
          <a:srcRect l="10463" r="10463" t="0" b="0"/>
          <a:stretch/>
        </p:blipFill>
        <p:spPr>
          <a:xfrm>
            <a:off x="6327648" y="786384"/>
            <a:ext cx="5093208" cy="5367528"/>
          </a:xfrm>
          <a:prstGeom prst="rect">
            <a:avLst/>
          </a:prstGeom>
        </p:spPr>
      </p:pic>
      <p:sp>
        <p:nvSpPr>
          <p:cNvPr id="23" name="Text 20"/>
          <p:cNvSpPr/>
          <p:nvPr/>
        </p:nvSpPr>
        <p:spPr>
          <a:xfrm>
            <a:off x="8321040" y="896112"/>
            <a:ext cx="2697480" cy="365760"/>
          </a:xfrm>
          <a:prstGeom prst="rect">
            <a:avLst/>
          </a:prstGeom>
          <a:solidFill>
            <a:srgbClr val="08111F">
              <a:alpha val="88000"/>
            </a:srgbClr>
          </a:solidFill>
          <a:ln>
            <a:solidFill>
              <a:srgbClr val="22314B">
                <a:alpha val="0"/>
              </a:srgbClr>
            </a:solidFill>
          </a:ln>
        </p:spPr>
        <p:txBody>
          <a:bodyPr wrap="square" lIns="0" tIns="0" rIns="0" bIns="0" rtlCol="0" anchor="ctr"/>
          <a:lstStyle/>
          <a:p>
            <a:pPr algn="ctr" indent="0" marL="0">
              <a:buNone/>
            </a:pPr>
            <a:r>
              <a:rPr lang="en-US" sz="900" b="1" dirty="0">
                <a:solidFill>
                  <a:srgbClr val="F7FAFC"/>
                </a:solidFill>
                <a:latin typeface="Aptos" pitchFamily="34" charset="0"/>
                <a:ea typeface="Aptos" pitchFamily="34" charset="-122"/>
                <a:cs typeface="Aptos" pitchFamily="34" charset="-120"/>
              </a:rPr>
              <a:t>Orijinal Grafana screenshot'u</a:t>
            </a:r>
            <a:endParaRPr lang="en-US" sz="900" dirty="0"/>
          </a:p>
        </p:txBody>
      </p:sp>
      <p:sp>
        <p:nvSpPr>
          <p:cNvPr id="24" name="Text 21"/>
          <p:cNvSpPr/>
          <p:nvPr/>
        </p:nvSpPr>
        <p:spPr>
          <a:xfrm>
            <a:off x="566928" y="6510528"/>
            <a:ext cx="5120640" cy="146304"/>
          </a:xfrm>
          <a:prstGeom prst="rect">
            <a:avLst/>
          </a:prstGeom>
          <a:noFill/>
          <a:ln/>
        </p:spPr>
        <p:txBody>
          <a:bodyPr wrap="square" lIns="0" tIns="0" rIns="0" bIns="0" rtlCol="0" anchor="ctr"/>
          <a:lstStyle/>
          <a:p>
            <a:pPr indent="0" marL="0">
              <a:buNone/>
            </a:pPr>
            <a:r>
              <a:rPr lang="en-US" sz="800" dirty="0">
                <a:solidFill>
                  <a:srgbClr val="7D8CA2"/>
                </a:solidFill>
                <a:latin typeface="Aptos" pitchFamily="34" charset="0"/>
                <a:ea typeface="Aptos" pitchFamily="34" charset="-122"/>
                <a:cs typeface="Aptos" pitchFamily="34" charset="-120"/>
              </a:rPr>
              <a:t>Grafana Anomaly Detector | Final benchmark revizyonu</a:t>
            </a:r>
            <a:endParaRPr lang="en-US" sz="800" dirty="0"/>
          </a:p>
        </p:txBody>
      </p:sp>
      <p:sp>
        <p:nvSpPr>
          <p:cNvPr id="25" name="Text 22"/>
          <p:cNvSpPr/>
          <p:nvPr/>
        </p:nvSpPr>
        <p:spPr>
          <a:xfrm>
            <a:off x="11247120" y="6473952"/>
            <a:ext cx="365760" cy="182880"/>
          </a:xfrm>
          <a:prstGeom prst="rect">
            <a:avLst/>
          </a:prstGeom>
          <a:noFill/>
          <a:ln/>
        </p:spPr>
        <p:txBody>
          <a:bodyPr wrap="square" lIns="0" tIns="0" rIns="0" bIns="0" rtlCol="0" anchor="ctr"/>
          <a:lstStyle/>
          <a:p>
            <a:pPr algn="r" indent="0" marL="0">
              <a:buNone/>
            </a:pPr>
            <a:r>
              <a:rPr lang="en-US" sz="800" dirty="0">
                <a:solidFill>
                  <a:srgbClr val="7D8CA2"/>
                </a:solidFill>
                <a:latin typeface="Aptos" pitchFamily="34" charset="0"/>
                <a:ea typeface="Aptos" pitchFamily="34" charset="-122"/>
                <a:cs typeface="Aptos" pitchFamily="34" charset="-120"/>
              </a:rPr>
              <a:t>1</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8111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8111F"/>
          </a:solidFill>
          <a:ln w="12700">
            <a:solidFill>
              <a:srgbClr val="08111F">
                <a:alpha val="0"/>
              </a:srgbClr>
            </a:solidFill>
            <a:prstDash val="solid"/>
          </a:ln>
        </p:spPr>
      </p:sp>
      <p:sp>
        <p:nvSpPr>
          <p:cNvPr id="3" name="Shape 1"/>
          <p:cNvSpPr/>
          <p:nvPr/>
        </p:nvSpPr>
        <p:spPr>
          <a:xfrm>
            <a:off x="502920" y="292608"/>
            <a:ext cx="11183112" cy="27432"/>
          </a:xfrm>
          <a:prstGeom prst="rect">
            <a:avLst/>
          </a:prstGeom>
          <a:solidFill>
            <a:srgbClr val="F97316"/>
          </a:solidFill>
          <a:ln w="12700">
            <a:solidFill>
              <a:srgbClr val="F97316">
                <a:alpha val="0"/>
              </a:srgbClr>
            </a:solidFill>
            <a:prstDash val="solid"/>
          </a:ln>
        </p:spPr>
      </p:sp>
      <p:sp>
        <p:nvSpPr>
          <p:cNvPr id="4" name="Text 2"/>
          <p:cNvSpPr/>
          <p:nvPr/>
        </p:nvSpPr>
        <p:spPr>
          <a:xfrm>
            <a:off x="566928" y="109728"/>
            <a:ext cx="4389120" cy="164592"/>
          </a:xfrm>
          <a:prstGeom prst="rect">
            <a:avLst/>
          </a:prstGeom>
          <a:noFill/>
          <a:ln/>
        </p:spPr>
        <p:txBody>
          <a:bodyPr wrap="square" lIns="0" tIns="0" rIns="0" bIns="0" rtlCol="0" anchor="ctr"/>
          <a:lstStyle/>
          <a:p>
            <a:pPr indent="0" marL="0">
              <a:buNone/>
            </a:pPr>
            <a:r>
              <a:rPr lang="en-US" sz="1000" b="1" dirty="0">
                <a:solidFill>
                  <a:srgbClr val="F97316"/>
                </a:solidFill>
                <a:latin typeface="Aptos" pitchFamily="34" charset="0"/>
                <a:ea typeface="Aptos" pitchFamily="34" charset="-122"/>
                <a:cs typeface="Aptos" pitchFamily="34" charset="-120"/>
              </a:rPr>
              <a:t>KARAR OZETI</a:t>
            </a:r>
            <a:endParaRPr lang="en-US" sz="1000" dirty="0"/>
          </a:p>
        </p:txBody>
      </p:sp>
      <p:sp>
        <p:nvSpPr>
          <p:cNvPr id="5" name="Text 3"/>
          <p:cNvSpPr/>
          <p:nvPr/>
        </p:nvSpPr>
        <p:spPr>
          <a:xfrm>
            <a:off x="566928" y="438912"/>
            <a:ext cx="6583680" cy="310896"/>
          </a:xfrm>
          <a:prstGeom prst="rect">
            <a:avLst/>
          </a:prstGeom>
          <a:noFill/>
          <a:ln/>
        </p:spPr>
        <p:txBody>
          <a:bodyPr wrap="square" lIns="0" tIns="0" rIns="0" bIns="0" rtlCol="0" anchor="ctr"/>
          <a:lstStyle/>
          <a:p>
            <a:pPr indent="0" marL="0">
              <a:buNone/>
            </a:pPr>
            <a:r>
              <a:rPr lang="en-US" sz="2400" b="1" dirty="0">
                <a:solidFill>
                  <a:srgbClr val="F7FAFC"/>
                </a:solidFill>
                <a:latin typeface="Aptos Display" pitchFamily="34" charset="0"/>
                <a:ea typeface="Aptos Display" pitchFamily="34" charset="-122"/>
                <a:cs typeface="Aptos Display" pitchFamily="34" charset="-120"/>
              </a:rPr>
              <a:t>Sonuc tek bakista</a:t>
            </a:r>
            <a:endParaRPr lang="en-US" sz="2400" dirty="0"/>
          </a:p>
        </p:txBody>
      </p:sp>
      <p:sp>
        <p:nvSpPr>
          <p:cNvPr id="6" name="Text 4"/>
          <p:cNvSpPr/>
          <p:nvPr/>
        </p:nvSpPr>
        <p:spPr>
          <a:xfrm>
            <a:off x="566928" y="822960"/>
            <a:ext cx="8046720" cy="292608"/>
          </a:xfrm>
          <a:prstGeom prst="rect">
            <a:avLst/>
          </a:prstGeom>
          <a:noFill/>
          <a:ln/>
        </p:spPr>
        <p:txBody>
          <a:bodyPr wrap="square" lIns="0" tIns="0" rIns="0" bIns="0" rtlCol="0" anchor="ctr"/>
          <a:lstStyle/>
          <a:p>
            <a:pPr indent="0" marL="0">
              <a:buNone/>
            </a:pPr>
            <a:r>
              <a:rPr lang="en-US" sz="1100" dirty="0">
                <a:solidFill>
                  <a:srgbClr val="B8C4D5"/>
                </a:solidFill>
                <a:latin typeface="Aptos" pitchFamily="34" charset="0"/>
                <a:ea typeface="Aptos" pitchFamily="34" charset="-122"/>
                <a:cs typeface="Aptos" pitchFamily="34" charset="-120"/>
              </a:rPr>
              <a:t>Teknik olmayan paydaslarin hizli karar alabilmesi icin sade anlatimla hazirlanmistir.</a:t>
            </a:r>
            <a:endParaRPr lang="en-US" sz="1100" dirty="0"/>
          </a:p>
        </p:txBody>
      </p:sp>
      <p:sp>
        <p:nvSpPr>
          <p:cNvPr id="7" name="Text 5"/>
          <p:cNvSpPr/>
          <p:nvPr/>
        </p:nvSpPr>
        <p:spPr>
          <a:xfrm>
            <a:off x="566928" y="6510528"/>
            <a:ext cx="5120640" cy="146304"/>
          </a:xfrm>
          <a:prstGeom prst="rect">
            <a:avLst/>
          </a:prstGeom>
          <a:noFill/>
          <a:ln/>
        </p:spPr>
        <p:txBody>
          <a:bodyPr wrap="square" lIns="0" tIns="0" rIns="0" bIns="0" rtlCol="0" anchor="ctr"/>
          <a:lstStyle/>
          <a:p>
            <a:pPr indent="0" marL="0">
              <a:buNone/>
            </a:pPr>
            <a:r>
              <a:rPr lang="en-US" sz="800" dirty="0">
                <a:solidFill>
                  <a:srgbClr val="7D8CA2"/>
                </a:solidFill>
                <a:latin typeface="Aptos" pitchFamily="34" charset="0"/>
                <a:ea typeface="Aptos" pitchFamily="34" charset="-122"/>
                <a:cs typeface="Aptos" pitchFamily="34" charset="-120"/>
              </a:rPr>
              <a:t>Grafana Anomaly Detector | Final benchmark revizyonu</a:t>
            </a:r>
            <a:endParaRPr lang="en-US" sz="800" dirty="0"/>
          </a:p>
        </p:txBody>
      </p:sp>
      <p:sp>
        <p:nvSpPr>
          <p:cNvPr id="8" name="Text 6"/>
          <p:cNvSpPr/>
          <p:nvPr/>
        </p:nvSpPr>
        <p:spPr>
          <a:xfrm>
            <a:off x="11247120" y="6473952"/>
            <a:ext cx="365760" cy="182880"/>
          </a:xfrm>
          <a:prstGeom prst="rect">
            <a:avLst/>
          </a:prstGeom>
          <a:noFill/>
          <a:ln/>
        </p:spPr>
        <p:txBody>
          <a:bodyPr wrap="square" lIns="0" tIns="0" rIns="0" bIns="0" rtlCol="0" anchor="ctr"/>
          <a:lstStyle/>
          <a:p>
            <a:pPr algn="r" indent="0" marL="0">
              <a:buNone/>
            </a:pPr>
            <a:r>
              <a:rPr lang="en-US" sz="800" dirty="0">
                <a:solidFill>
                  <a:srgbClr val="7D8CA2"/>
                </a:solidFill>
                <a:latin typeface="Aptos" pitchFamily="34" charset="0"/>
                <a:ea typeface="Aptos" pitchFamily="34" charset="-122"/>
                <a:cs typeface="Aptos" pitchFamily="34" charset="-120"/>
              </a:rPr>
              <a:t>2</a:t>
            </a:r>
            <a:endParaRPr lang="en-US" sz="800" dirty="0"/>
          </a:p>
        </p:txBody>
      </p:sp>
      <p:sp>
        <p:nvSpPr>
          <p:cNvPr id="9" name="Shape 7"/>
          <p:cNvSpPr/>
          <p:nvPr/>
        </p:nvSpPr>
        <p:spPr>
          <a:xfrm>
            <a:off x="594360" y="1325880"/>
            <a:ext cx="2743200" cy="1097280"/>
          </a:xfrm>
          <a:prstGeom prst="roundRect">
            <a:avLst>
              <a:gd name="adj" fmla="val 6667"/>
            </a:avLst>
          </a:prstGeom>
          <a:solidFill>
            <a:srgbClr val="0F1A2B"/>
          </a:solidFill>
          <a:ln w="12700">
            <a:solidFill>
              <a:srgbClr val="22314B"/>
            </a:solidFill>
            <a:prstDash val="solid"/>
          </a:ln>
          <a:effectLst>
            <a:outerShdw sx="100000" sy="100000" kx="0" ky="0" algn="bl" rotWithShape="0" blurRad="25400" dist="12700" dir="2700000">
              <a:srgbClr val="000000">
                <a:alpha val="20000"/>
              </a:srgbClr>
            </a:outerShdw>
          </a:effectLst>
        </p:spPr>
      </p:sp>
      <p:sp>
        <p:nvSpPr>
          <p:cNvPr id="10" name="Text 8"/>
          <p:cNvSpPr/>
          <p:nvPr/>
        </p:nvSpPr>
        <p:spPr>
          <a:xfrm>
            <a:off x="758952" y="1453896"/>
            <a:ext cx="2414016" cy="164592"/>
          </a:xfrm>
          <a:prstGeom prst="rect">
            <a:avLst/>
          </a:prstGeom>
          <a:noFill/>
          <a:ln/>
        </p:spPr>
        <p:txBody>
          <a:bodyPr wrap="square" lIns="0" tIns="0" rIns="0" bIns="0" rtlCol="0" anchor="ctr"/>
          <a:lstStyle/>
          <a:p>
            <a:pPr indent="0" marL="0">
              <a:buNone/>
            </a:pPr>
            <a:r>
              <a:rPr lang="en-US" sz="900" b="1" dirty="0">
                <a:solidFill>
                  <a:srgbClr val="B8C4D5"/>
                </a:solidFill>
                <a:latin typeface="Aptos" pitchFamily="34" charset="0"/>
                <a:ea typeface="Aptos" pitchFamily="34" charset="-122"/>
                <a:cs typeface="Aptos" pitchFamily="34" charset="-120"/>
              </a:rPr>
              <a:t>Fonksiyonel kalite</a:t>
            </a:r>
            <a:endParaRPr lang="en-US" sz="900" dirty="0"/>
          </a:p>
        </p:txBody>
      </p:sp>
      <p:sp>
        <p:nvSpPr>
          <p:cNvPr id="11" name="Text 9"/>
          <p:cNvSpPr/>
          <p:nvPr/>
        </p:nvSpPr>
        <p:spPr>
          <a:xfrm>
            <a:off x="758952" y="1673352"/>
            <a:ext cx="2414016" cy="274320"/>
          </a:xfrm>
          <a:prstGeom prst="rect">
            <a:avLst/>
          </a:prstGeom>
          <a:noFill/>
          <a:ln/>
        </p:spPr>
        <p:txBody>
          <a:bodyPr wrap="square" lIns="0" tIns="0" rIns="0" bIns="0" rtlCol="0" anchor="ctr"/>
          <a:lstStyle/>
          <a:p>
            <a:pPr indent="0" marL="0">
              <a:buNone/>
            </a:pPr>
            <a:r>
              <a:rPr lang="en-US" sz="1900" b="1" dirty="0">
                <a:solidFill>
                  <a:srgbClr val="22C55E"/>
                </a:solidFill>
                <a:latin typeface="Aptos Display" pitchFamily="34" charset="0"/>
                <a:ea typeface="Aptos Display" pitchFamily="34" charset="-122"/>
                <a:cs typeface="Aptos Display" pitchFamily="34" charset="-120"/>
              </a:rPr>
              <a:t>6 / 6</a:t>
            </a:r>
            <a:endParaRPr lang="en-US" sz="1900" dirty="0"/>
          </a:p>
        </p:txBody>
      </p:sp>
      <p:sp>
        <p:nvSpPr>
          <p:cNvPr id="12" name="Text 10"/>
          <p:cNvSpPr/>
          <p:nvPr/>
        </p:nvSpPr>
        <p:spPr>
          <a:xfrm>
            <a:off x="758952" y="2020824"/>
            <a:ext cx="2414016" cy="292608"/>
          </a:xfrm>
          <a:prstGeom prst="rect">
            <a:avLst/>
          </a:prstGeom>
          <a:noFill/>
          <a:ln/>
        </p:spPr>
        <p:txBody>
          <a:bodyPr wrap="square" lIns="0" tIns="0" rIns="0" bIns="0" rtlCol="0" anchor="t"/>
          <a:lstStyle/>
          <a:p>
            <a:pPr indent="0" marL="0">
              <a:buNone/>
            </a:pPr>
            <a:r>
              <a:rPr lang="en-US" sz="900" dirty="0">
                <a:solidFill>
                  <a:srgbClr val="B8C4D5"/>
                </a:solidFill>
                <a:latin typeface="Aptos" pitchFamily="34" charset="0"/>
                <a:ea typeface="Aptos" pitchFamily="34" charset="-122"/>
                <a:cs typeface="Aptos" pitchFamily="34" charset="-120"/>
              </a:rPr>
              <a:t>Tum labeled benchmark senaryolari final detector tarafinda dogru sekilde yakalandi.</a:t>
            </a:r>
            <a:endParaRPr lang="en-US" sz="900" dirty="0"/>
          </a:p>
        </p:txBody>
      </p:sp>
      <p:sp>
        <p:nvSpPr>
          <p:cNvPr id="13" name="Shape 11"/>
          <p:cNvSpPr/>
          <p:nvPr/>
        </p:nvSpPr>
        <p:spPr>
          <a:xfrm>
            <a:off x="3493008" y="1325880"/>
            <a:ext cx="2743200" cy="1097280"/>
          </a:xfrm>
          <a:prstGeom prst="roundRect">
            <a:avLst>
              <a:gd name="adj" fmla="val 6667"/>
            </a:avLst>
          </a:prstGeom>
          <a:solidFill>
            <a:srgbClr val="0F1A2B"/>
          </a:solidFill>
          <a:ln w="12700">
            <a:solidFill>
              <a:srgbClr val="22314B"/>
            </a:solidFill>
            <a:prstDash val="solid"/>
          </a:ln>
          <a:effectLst>
            <a:outerShdw sx="100000" sy="100000" kx="0" ky="0" algn="bl" rotWithShape="0" blurRad="25400" dist="12700" dir="2700000">
              <a:srgbClr val="000000">
                <a:alpha val="20000"/>
              </a:srgbClr>
            </a:outerShdw>
          </a:effectLst>
        </p:spPr>
      </p:sp>
      <p:sp>
        <p:nvSpPr>
          <p:cNvPr id="14" name="Text 12"/>
          <p:cNvSpPr/>
          <p:nvPr/>
        </p:nvSpPr>
        <p:spPr>
          <a:xfrm>
            <a:off x="3657600" y="1453896"/>
            <a:ext cx="2414016" cy="164592"/>
          </a:xfrm>
          <a:prstGeom prst="rect">
            <a:avLst/>
          </a:prstGeom>
          <a:noFill/>
          <a:ln/>
        </p:spPr>
        <p:txBody>
          <a:bodyPr wrap="square" lIns="0" tIns="0" rIns="0" bIns="0" rtlCol="0" anchor="ctr"/>
          <a:lstStyle/>
          <a:p>
            <a:pPr indent="0" marL="0">
              <a:buNone/>
            </a:pPr>
            <a:r>
              <a:rPr lang="en-US" sz="900" b="1" dirty="0">
                <a:solidFill>
                  <a:srgbClr val="B8C4D5"/>
                </a:solidFill>
                <a:latin typeface="Aptos" pitchFamily="34" charset="0"/>
                <a:ea typeface="Aptos" pitchFamily="34" charset="-122"/>
                <a:cs typeface="Aptos" pitchFamily="34" charset="-120"/>
              </a:rPr>
              <a:t>Elastic karsilastirma</a:t>
            </a:r>
            <a:endParaRPr lang="en-US" sz="900" dirty="0"/>
          </a:p>
        </p:txBody>
      </p:sp>
      <p:sp>
        <p:nvSpPr>
          <p:cNvPr id="15" name="Text 13"/>
          <p:cNvSpPr/>
          <p:nvPr/>
        </p:nvSpPr>
        <p:spPr>
          <a:xfrm>
            <a:off x="3657600" y="1673352"/>
            <a:ext cx="2414016" cy="274320"/>
          </a:xfrm>
          <a:prstGeom prst="rect">
            <a:avLst/>
          </a:prstGeom>
          <a:noFill/>
          <a:ln/>
        </p:spPr>
        <p:txBody>
          <a:bodyPr wrap="square" lIns="0" tIns="0" rIns="0" bIns="0" rtlCol="0" anchor="ctr"/>
          <a:lstStyle/>
          <a:p>
            <a:pPr indent="0" marL="0">
              <a:buNone/>
            </a:pPr>
            <a:r>
              <a:rPr lang="en-US" sz="1900" b="1" dirty="0">
                <a:solidFill>
                  <a:srgbClr val="F97316"/>
                </a:solidFill>
                <a:latin typeface="Aptos Display" pitchFamily="34" charset="0"/>
                <a:ea typeface="Aptos Display" pitchFamily="34" charset="-122"/>
                <a:cs typeface="Aptos Display" pitchFamily="34" charset="-120"/>
              </a:rPr>
              <a:t>1.00 vs 0.71</a:t>
            </a:r>
            <a:endParaRPr lang="en-US" sz="1900" dirty="0"/>
          </a:p>
        </p:txBody>
      </p:sp>
      <p:sp>
        <p:nvSpPr>
          <p:cNvPr id="16" name="Text 14"/>
          <p:cNvSpPr/>
          <p:nvPr/>
        </p:nvSpPr>
        <p:spPr>
          <a:xfrm>
            <a:off x="3657600" y="2020824"/>
            <a:ext cx="2414016" cy="292608"/>
          </a:xfrm>
          <a:prstGeom prst="rect">
            <a:avLst/>
          </a:prstGeom>
          <a:noFill/>
          <a:ln/>
        </p:spPr>
        <p:txBody>
          <a:bodyPr wrap="square" lIns="0" tIns="0" rIns="0" bIns="0" rtlCol="0" anchor="t"/>
          <a:lstStyle/>
          <a:p>
            <a:pPr indent="0" marL="0">
              <a:buNone/>
            </a:pPr>
            <a:r>
              <a:rPr lang="en-US" sz="900" dirty="0">
                <a:solidFill>
                  <a:srgbClr val="B8C4D5"/>
                </a:solidFill>
                <a:latin typeface="Aptos" pitchFamily="34" charset="0"/>
                <a:ea typeface="Aptos" pitchFamily="34" charset="-122"/>
                <a:cs typeface="Aptos" pitchFamily="34" charset="-120"/>
              </a:rPr>
              <a:t>Ayni veri setinde final detector mean F1 sonucu, Elastic'in en iyi threshold sonucunun uzerinde.</a:t>
            </a:r>
            <a:endParaRPr lang="en-US" sz="900" dirty="0"/>
          </a:p>
        </p:txBody>
      </p:sp>
      <p:sp>
        <p:nvSpPr>
          <p:cNvPr id="17" name="Shape 15"/>
          <p:cNvSpPr/>
          <p:nvPr/>
        </p:nvSpPr>
        <p:spPr>
          <a:xfrm>
            <a:off x="6400800" y="1325880"/>
            <a:ext cx="2377440" cy="1097280"/>
          </a:xfrm>
          <a:prstGeom prst="roundRect">
            <a:avLst>
              <a:gd name="adj" fmla="val 6667"/>
            </a:avLst>
          </a:prstGeom>
          <a:solidFill>
            <a:srgbClr val="0F1A2B"/>
          </a:solidFill>
          <a:ln w="12700">
            <a:solidFill>
              <a:srgbClr val="22314B"/>
            </a:solidFill>
            <a:prstDash val="solid"/>
          </a:ln>
          <a:effectLst>
            <a:outerShdw sx="100000" sy="100000" kx="0" ky="0" algn="bl" rotWithShape="0" blurRad="25400" dist="12700" dir="2700000">
              <a:srgbClr val="000000">
                <a:alpha val="20000"/>
              </a:srgbClr>
            </a:outerShdw>
          </a:effectLst>
        </p:spPr>
      </p:sp>
      <p:sp>
        <p:nvSpPr>
          <p:cNvPr id="18" name="Text 16"/>
          <p:cNvSpPr/>
          <p:nvPr/>
        </p:nvSpPr>
        <p:spPr>
          <a:xfrm>
            <a:off x="6565392" y="1453896"/>
            <a:ext cx="2048256" cy="164592"/>
          </a:xfrm>
          <a:prstGeom prst="rect">
            <a:avLst/>
          </a:prstGeom>
          <a:noFill/>
          <a:ln/>
        </p:spPr>
        <p:txBody>
          <a:bodyPr wrap="square" lIns="0" tIns="0" rIns="0" bIns="0" rtlCol="0" anchor="ctr"/>
          <a:lstStyle/>
          <a:p>
            <a:pPr indent="0" marL="0">
              <a:buNone/>
            </a:pPr>
            <a:r>
              <a:rPr lang="en-US" sz="900" b="1" dirty="0">
                <a:solidFill>
                  <a:srgbClr val="B8C4D5"/>
                </a:solidFill>
                <a:latin typeface="Aptos" pitchFamily="34" charset="0"/>
                <a:ea typeface="Aptos" pitchFamily="34" charset="-122"/>
                <a:cs typeface="Aptos" pitchFamily="34" charset="-120"/>
              </a:rPr>
              <a:t>Kapasite</a:t>
            </a:r>
            <a:endParaRPr lang="en-US" sz="900" dirty="0"/>
          </a:p>
        </p:txBody>
      </p:sp>
      <p:sp>
        <p:nvSpPr>
          <p:cNvPr id="19" name="Text 17"/>
          <p:cNvSpPr/>
          <p:nvPr/>
        </p:nvSpPr>
        <p:spPr>
          <a:xfrm>
            <a:off x="6565392" y="1673352"/>
            <a:ext cx="2048256" cy="274320"/>
          </a:xfrm>
          <a:prstGeom prst="rect">
            <a:avLst/>
          </a:prstGeom>
          <a:noFill/>
          <a:ln/>
        </p:spPr>
        <p:txBody>
          <a:bodyPr wrap="square" lIns="0" tIns="0" rIns="0" bIns="0" rtlCol="0" anchor="ctr"/>
          <a:lstStyle/>
          <a:p>
            <a:pPr indent="0" marL="0">
              <a:buNone/>
            </a:pPr>
            <a:r>
              <a:rPr lang="en-US" sz="1900" b="1" dirty="0">
                <a:solidFill>
                  <a:srgbClr val="38BDF8"/>
                </a:solidFill>
                <a:latin typeface="Aptos Display" pitchFamily="34" charset="0"/>
                <a:ea typeface="Aptos Display" pitchFamily="34" charset="-122"/>
                <a:cs typeface="Aptos Display" pitchFamily="34" charset="-120"/>
              </a:rPr>
              <a:t>400 PASS</a:t>
            </a:r>
            <a:endParaRPr lang="en-US" sz="1900" dirty="0"/>
          </a:p>
        </p:txBody>
      </p:sp>
      <p:sp>
        <p:nvSpPr>
          <p:cNvPr id="20" name="Text 18"/>
          <p:cNvSpPr/>
          <p:nvPr/>
        </p:nvSpPr>
        <p:spPr>
          <a:xfrm>
            <a:off x="6565392" y="2020824"/>
            <a:ext cx="2048256" cy="292608"/>
          </a:xfrm>
          <a:prstGeom prst="rect">
            <a:avLst/>
          </a:prstGeom>
          <a:noFill/>
          <a:ln/>
        </p:spPr>
        <p:txBody>
          <a:bodyPr wrap="square" lIns="0" tIns="0" rIns="0" bIns="0" rtlCol="0" anchor="t"/>
          <a:lstStyle/>
          <a:p>
            <a:pPr indent="0" marL="0">
              <a:buNone/>
            </a:pPr>
            <a:r>
              <a:rPr lang="en-US" sz="900" dirty="0">
                <a:solidFill>
                  <a:srgbClr val="B8C4D5"/>
                </a:solidFill>
                <a:latin typeface="Aptos" pitchFamily="34" charset="0"/>
                <a:ea typeface="Aptos" pitchFamily="34" charset="-122"/>
                <a:cs typeface="Aptos" pitchFamily="34" charset="-120"/>
              </a:rPr>
              <a:t>Short soak sirasinda dashboard, render ve alert query birlikte temiz gecti.</a:t>
            </a:r>
            <a:endParaRPr lang="en-US" sz="900" dirty="0"/>
          </a:p>
        </p:txBody>
      </p:sp>
      <p:sp>
        <p:nvSpPr>
          <p:cNvPr id="21" name="Shape 19"/>
          <p:cNvSpPr/>
          <p:nvPr/>
        </p:nvSpPr>
        <p:spPr>
          <a:xfrm>
            <a:off x="8942832" y="1325880"/>
            <a:ext cx="2651760" cy="1097280"/>
          </a:xfrm>
          <a:prstGeom prst="roundRect">
            <a:avLst>
              <a:gd name="adj" fmla="val 6667"/>
            </a:avLst>
          </a:prstGeom>
          <a:solidFill>
            <a:srgbClr val="0F1A2B"/>
          </a:solidFill>
          <a:ln w="12700">
            <a:solidFill>
              <a:srgbClr val="22314B"/>
            </a:solidFill>
            <a:prstDash val="solid"/>
          </a:ln>
          <a:effectLst>
            <a:outerShdw sx="100000" sy="100000" kx="0" ky="0" algn="bl" rotWithShape="0" blurRad="25400" dist="12700" dir="2700000">
              <a:srgbClr val="000000">
                <a:alpha val="20000"/>
              </a:srgbClr>
            </a:outerShdw>
          </a:effectLst>
        </p:spPr>
      </p:sp>
      <p:sp>
        <p:nvSpPr>
          <p:cNvPr id="22" name="Text 20"/>
          <p:cNvSpPr/>
          <p:nvPr/>
        </p:nvSpPr>
        <p:spPr>
          <a:xfrm>
            <a:off x="9107424" y="1453896"/>
            <a:ext cx="2322576" cy="164592"/>
          </a:xfrm>
          <a:prstGeom prst="rect">
            <a:avLst/>
          </a:prstGeom>
          <a:noFill/>
          <a:ln/>
        </p:spPr>
        <p:txBody>
          <a:bodyPr wrap="square" lIns="0" tIns="0" rIns="0" bIns="0" rtlCol="0" anchor="ctr"/>
          <a:lstStyle/>
          <a:p>
            <a:pPr indent="0" marL="0">
              <a:buNone/>
            </a:pPr>
            <a:r>
              <a:rPr lang="en-US" sz="900" b="1" dirty="0">
                <a:solidFill>
                  <a:srgbClr val="B8C4D5"/>
                </a:solidFill>
                <a:latin typeface="Aptos" pitchFamily="34" charset="0"/>
                <a:ea typeface="Aptos" pitchFamily="34" charset="-122"/>
                <a:cs typeface="Aptos" pitchFamily="34" charset="-120"/>
              </a:rPr>
              <a:t>Urun olgunlugu</a:t>
            </a:r>
            <a:endParaRPr lang="en-US" sz="900" dirty="0"/>
          </a:p>
        </p:txBody>
      </p:sp>
      <p:sp>
        <p:nvSpPr>
          <p:cNvPr id="23" name="Text 21"/>
          <p:cNvSpPr/>
          <p:nvPr/>
        </p:nvSpPr>
        <p:spPr>
          <a:xfrm>
            <a:off x="9107424" y="1673352"/>
            <a:ext cx="2322576" cy="274320"/>
          </a:xfrm>
          <a:prstGeom prst="rect">
            <a:avLst/>
          </a:prstGeom>
          <a:noFill/>
          <a:ln/>
        </p:spPr>
        <p:txBody>
          <a:bodyPr wrap="square" lIns="0" tIns="0" rIns="0" bIns="0" rtlCol="0" anchor="ctr"/>
          <a:lstStyle/>
          <a:p>
            <a:pPr indent="0" marL="0">
              <a:buNone/>
            </a:pPr>
            <a:r>
              <a:rPr lang="en-US" sz="1900" b="1" dirty="0">
                <a:solidFill>
                  <a:srgbClr val="06B6D4"/>
                </a:solidFill>
                <a:latin typeface="Aptos Display" pitchFamily="34" charset="0"/>
                <a:ea typeface="Aptos Display" pitchFamily="34" charset="-122"/>
                <a:cs typeface="Aptos Display" pitchFamily="34" charset="-120"/>
              </a:rPr>
              <a:t>Canli demo hazir</a:t>
            </a:r>
            <a:endParaRPr lang="en-US" sz="1900" dirty="0"/>
          </a:p>
        </p:txBody>
      </p:sp>
      <p:sp>
        <p:nvSpPr>
          <p:cNvPr id="24" name="Text 22"/>
          <p:cNvSpPr/>
          <p:nvPr/>
        </p:nvSpPr>
        <p:spPr>
          <a:xfrm>
            <a:off x="9107424" y="2020824"/>
            <a:ext cx="2322576" cy="292608"/>
          </a:xfrm>
          <a:prstGeom prst="rect">
            <a:avLst/>
          </a:prstGeom>
          <a:noFill/>
          <a:ln/>
        </p:spPr>
        <p:txBody>
          <a:bodyPr wrap="square" lIns="0" tIns="0" rIns="0" bIns="0" rtlCol="0" anchor="t"/>
          <a:lstStyle/>
          <a:p>
            <a:pPr indent="0" marL="0">
              <a:buNone/>
            </a:pPr>
            <a:r>
              <a:rPr lang="en-US" sz="900" dirty="0">
                <a:solidFill>
                  <a:srgbClr val="B8C4D5"/>
                </a:solidFill>
                <a:latin typeface="Aptos" pitchFamily="34" charset="0"/>
                <a:ea typeface="Aptos" pitchFamily="34" charset="-122"/>
                <a:cs typeface="Aptos" pitchFamily="34" charset="-120"/>
              </a:rPr>
              <a:t>Premium chart, inspector ve olay takibi deneyimi benchmark sonrasinda urune alinmis durumda.</a:t>
            </a:r>
            <a:endParaRPr lang="en-US" sz="900" dirty="0"/>
          </a:p>
        </p:txBody>
      </p:sp>
      <p:sp>
        <p:nvSpPr>
          <p:cNvPr id="25" name="Shape 23"/>
          <p:cNvSpPr/>
          <p:nvPr/>
        </p:nvSpPr>
        <p:spPr>
          <a:xfrm>
            <a:off x="594360" y="2743200"/>
            <a:ext cx="10972800" cy="960120"/>
          </a:xfrm>
          <a:prstGeom prst="roundRect">
            <a:avLst>
              <a:gd name="adj" fmla="val 7619"/>
            </a:avLst>
          </a:prstGeom>
          <a:solidFill>
            <a:srgbClr val="122038"/>
          </a:solidFill>
          <a:ln w="12700">
            <a:solidFill>
              <a:srgbClr val="22314B"/>
            </a:solidFill>
            <a:prstDash val="solid"/>
          </a:ln>
          <a:effectLst>
            <a:outerShdw sx="100000" sy="100000" kx="0" ky="0" algn="bl" rotWithShape="0" blurRad="25400" dist="12700" dir="2700000">
              <a:srgbClr val="000000">
                <a:alpha val="20000"/>
              </a:srgbClr>
            </a:outerShdw>
          </a:effectLst>
        </p:spPr>
      </p:sp>
      <p:sp>
        <p:nvSpPr>
          <p:cNvPr id="26" name="Shape 24"/>
          <p:cNvSpPr/>
          <p:nvPr/>
        </p:nvSpPr>
        <p:spPr>
          <a:xfrm>
            <a:off x="740664" y="2889504"/>
            <a:ext cx="73152" cy="667512"/>
          </a:xfrm>
          <a:prstGeom prst="roundRect">
            <a:avLst>
              <a:gd name="adj" fmla="val 25000"/>
            </a:avLst>
          </a:prstGeom>
          <a:solidFill>
            <a:srgbClr val="F97316"/>
          </a:solidFill>
          <a:ln w="12700">
            <a:solidFill>
              <a:srgbClr val="F97316">
                <a:alpha val="0"/>
              </a:srgbClr>
            </a:solidFill>
            <a:prstDash val="solid"/>
          </a:ln>
        </p:spPr>
      </p:sp>
      <p:sp>
        <p:nvSpPr>
          <p:cNvPr id="27" name="Text 25"/>
          <p:cNvSpPr/>
          <p:nvPr/>
        </p:nvSpPr>
        <p:spPr>
          <a:xfrm>
            <a:off x="886968" y="2889504"/>
            <a:ext cx="10533888" cy="201168"/>
          </a:xfrm>
          <a:prstGeom prst="rect">
            <a:avLst/>
          </a:prstGeom>
          <a:noFill/>
          <a:ln/>
        </p:spPr>
        <p:txBody>
          <a:bodyPr wrap="square" lIns="0" tIns="0" rIns="0" bIns="0" rtlCol="0" anchor="ctr"/>
          <a:lstStyle/>
          <a:p>
            <a:pPr indent="0" marL="0">
              <a:buNone/>
            </a:pPr>
            <a:r>
              <a:rPr lang="en-US" sz="1100" b="1" dirty="0">
                <a:solidFill>
                  <a:srgbClr val="F7FAFC"/>
                </a:solidFill>
                <a:latin typeface="Aptos" pitchFamily="34" charset="0"/>
                <a:ea typeface="Aptos" pitchFamily="34" charset="-122"/>
                <a:cs typeface="Aptos" pitchFamily="34" charset="-120"/>
              </a:rPr>
              <a:t>Yonetim diliyle yorum</a:t>
            </a:r>
            <a:endParaRPr lang="en-US" sz="1100" dirty="0"/>
          </a:p>
        </p:txBody>
      </p:sp>
      <p:sp>
        <p:nvSpPr>
          <p:cNvPr id="28" name="Text 26"/>
          <p:cNvSpPr/>
          <p:nvPr/>
        </p:nvSpPr>
        <p:spPr>
          <a:xfrm>
            <a:off x="886968" y="3127248"/>
            <a:ext cx="10533888" cy="466344"/>
          </a:xfrm>
          <a:prstGeom prst="rect">
            <a:avLst/>
          </a:prstGeom>
          <a:noFill/>
          <a:ln/>
        </p:spPr>
        <p:txBody>
          <a:bodyPr wrap="square" lIns="0" tIns="0" rIns="0" bIns="0" rtlCol="0" anchor="t"/>
          <a:lstStyle/>
          <a:p>
            <a:pPr indent="0" marL="0">
              <a:buNone/>
            </a:pPr>
            <a:r>
              <a:rPr lang="en-US" sz="900" dirty="0">
                <a:solidFill>
                  <a:srgbClr val="B8C4D5"/>
                </a:solidFill>
                <a:latin typeface="Aptos" pitchFamily="34" charset="0"/>
                <a:ea typeface="Aptos" pitchFamily="34" charset="-122"/>
                <a:cs typeface="Aptos" pitchFamily="34" charset="-120"/>
              </a:rPr>
              <a:t>Bugun elimizdeki delil su: Bu plugin sadece laboratuvar demosu degil. Ayni veri setinde enterprise alternatif ile yanyana kosulmus, sayisal ve gorsel olarak karsilastirilmis, sonra da kisa kapasite smoke testinden gecirilmis bir urun durumuna ulasmis durumda.</a:t>
            </a:r>
            <a:endParaRPr lang="en-US" sz="900" dirty="0"/>
          </a:p>
        </p:txBody>
      </p:sp>
      <p:sp>
        <p:nvSpPr>
          <p:cNvPr id="29" name="Shape 27"/>
          <p:cNvSpPr/>
          <p:nvPr/>
        </p:nvSpPr>
        <p:spPr>
          <a:xfrm>
            <a:off x="594360" y="4069080"/>
            <a:ext cx="3474720" cy="868680"/>
          </a:xfrm>
          <a:prstGeom prst="roundRect">
            <a:avLst>
              <a:gd name="adj" fmla="val 8421"/>
            </a:avLst>
          </a:prstGeom>
          <a:solidFill>
            <a:srgbClr val="122038"/>
          </a:solidFill>
          <a:ln w="12700">
            <a:solidFill>
              <a:srgbClr val="22314B"/>
            </a:solidFill>
            <a:prstDash val="solid"/>
          </a:ln>
        </p:spPr>
      </p:sp>
      <p:sp>
        <p:nvSpPr>
          <p:cNvPr id="30" name="Text 28"/>
          <p:cNvSpPr/>
          <p:nvPr/>
        </p:nvSpPr>
        <p:spPr>
          <a:xfrm>
            <a:off x="740664" y="4197096"/>
            <a:ext cx="3182112" cy="164592"/>
          </a:xfrm>
          <a:prstGeom prst="rect">
            <a:avLst/>
          </a:prstGeom>
          <a:noFill/>
          <a:ln/>
        </p:spPr>
        <p:txBody>
          <a:bodyPr wrap="square" lIns="0" tIns="0" rIns="0" bIns="0" rtlCol="0" anchor="ctr"/>
          <a:lstStyle/>
          <a:p>
            <a:pPr indent="0" marL="0">
              <a:buNone/>
            </a:pPr>
            <a:r>
              <a:rPr lang="en-US" sz="1000" b="1" dirty="0">
                <a:solidFill>
                  <a:srgbClr val="22C55E"/>
                </a:solidFill>
                <a:latin typeface="Aptos" pitchFamily="34" charset="0"/>
                <a:ea typeface="Aptos" pitchFamily="34" charset="-122"/>
                <a:cs typeface="Aptos" pitchFamily="34" charset="-120"/>
              </a:rPr>
              <a:t>Precision nedir?</a:t>
            </a:r>
            <a:endParaRPr lang="en-US" sz="1000" dirty="0"/>
          </a:p>
        </p:txBody>
      </p:sp>
      <p:sp>
        <p:nvSpPr>
          <p:cNvPr id="31" name="Text 29"/>
          <p:cNvSpPr/>
          <p:nvPr/>
        </p:nvSpPr>
        <p:spPr>
          <a:xfrm>
            <a:off x="740664" y="4398264"/>
            <a:ext cx="3182112" cy="402336"/>
          </a:xfrm>
          <a:prstGeom prst="rect">
            <a:avLst/>
          </a:prstGeom>
          <a:noFill/>
          <a:ln/>
        </p:spPr>
        <p:txBody>
          <a:bodyPr wrap="square" lIns="0" tIns="0" rIns="0" bIns="0" rtlCol="0" anchor="t"/>
          <a:lstStyle/>
          <a:p>
            <a:pPr indent="0" marL="0">
              <a:buNone/>
            </a:pPr>
            <a:r>
              <a:rPr lang="en-US" sz="900" dirty="0">
                <a:solidFill>
                  <a:srgbClr val="B8C4D5"/>
                </a:solidFill>
                <a:latin typeface="Aptos" pitchFamily="34" charset="0"/>
                <a:ea typeface="Aptos" pitchFamily="34" charset="-122"/>
                <a:cs typeface="Aptos" pitchFamily="34" charset="-120"/>
              </a:rPr>
              <a:t>Alarm geldiginde gercekten problem var mi? Yani bos alarm ne kadar az?</a:t>
            </a:r>
            <a:endParaRPr lang="en-US" sz="900" dirty="0"/>
          </a:p>
        </p:txBody>
      </p:sp>
      <p:sp>
        <p:nvSpPr>
          <p:cNvPr id="32" name="Shape 30"/>
          <p:cNvSpPr/>
          <p:nvPr/>
        </p:nvSpPr>
        <p:spPr>
          <a:xfrm>
            <a:off x="4361688" y="4069080"/>
            <a:ext cx="3474720" cy="868680"/>
          </a:xfrm>
          <a:prstGeom prst="roundRect">
            <a:avLst>
              <a:gd name="adj" fmla="val 8421"/>
            </a:avLst>
          </a:prstGeom>
          <a:solidFill>
            <a:srgbClr val="122038"/>
          </a:solidFill>
          <a:ln w="12700">
            <a:solidFill>
              <a:srgbClr val="22314B"/>
            </a:solidFill>
            <a:prstDash val="solid"/>
          </a:ln>
        </p:spPr>
      </p:sp>
      <p:sp>
        <p:nvSpPr>
          <p:cNvPr id="33" name="Text 31"/>
          <p:cNvSpPr/>
          <p:nvPr/>
        </p:nvSpPr>
        <p:spPr>
          <a:xfrm>
            <a:off x="4507992" y="4197096"/>
            <a:ext cx="3182112" cy="164592"/>
          </a:xfrm>
          <a:prstGeom prst="rect">
            <a:avLst/>
          </a:prstGeom>
          <a:noFill/>
          <a:ln/>
        </p:spPr>
        <p:txBody>
          <a:bodyPr wrap="square" lIns="0" tIns="0" rIns="0" bIns="0" rtlCol="0" anchor="ctr"/>
          <a:lstStyle/>
          <a:p>
            <a:pPr indent="0" marL="0">
              <a:buNone/>
            </a:pPr>
            <a:r>
              <a:rPr lang="en-US" sz="1000" b="1" dirty="0">
                <a:solidFill>
                  <a:srgbClr val="38BDF8"/>
                </a:solidFill>
                <a:latin typeface="Aptos" pitchFamily="34" charset="0"/>
                <a:ea typeface="Aptos" pitchFamily="34" charset="-122"/>
                <a:cs typeface="Aptos" pitchFamily="34" charset="-120"/>
              </a:rPr>
              <a:t>Recall nedir?</a:t>
            </a:r>
            <a:endParaRPr lang="en-US" sz="1000" dirty="0"/>
          </a:p>
        </p:txBody>
      </p:sp>
      <p:sp>
        <p:nvSpPr>
          <p:cNvPr id="34" name="Text 32"/>
          <p:cNvSpPr/>
          <p:nvPr/>
        </p:nvSpPr>
        <p:spPr>
          <a:xfrm>
            <a:off x="4507992" y="4398264"/>
            <a:ext cx="3182112" cy="402336"/>
          </a:xfrm>
          <a:prstGeom prst="rect">
            <a:avLst/>
          </a:prstGeom>
          <a:noFill/>
          <a:ln/>
        </p:spPr>
        <p:txBody>
          <a:bodyPr wrap="square" lIns="0" tIns="0" rIns="0" bIns="0" rtlCol="0" anchor="t"/>
          <a:lstStyle/>
          <a:p>
            <a:pPr indent="0" marL="0">
              <a:buNone/>
            </a:pPr>
            <a:r>
              <a:rPr lang="en-US" sz="900" dirty="0">
                <a:solidFill>
                  <a:srgbClr val="B8C4D5"/>
                </a:solidFill>
                <a:latin typeface="Aptos" pitchFamily="34" charset="0"/>
                <a:ea typeface="Aptos" pitchFamily="34" charset="-122"/>
                <a:cs typeface="Aptos" pitchFamily="34" charset="-120"/>
              </a:rPr>
              <a:t>Gercek problemlerin ne kadarini yakalayabiliyoruz? Yani kacirma oranini anlatir.</a:t>
            </a:r>
            <a:endParaRPr lang="en-US" sz="900" dirty="0"/>
          </a:p>
        </p:txBody>
      </p:sp>
      <p:sp>
        <p:nvSpPr>
          <p:cNvPr id="35" name="Shape 33"/>
          <p:cNvSpPr/>
          <p:nvPr/>
        </p:nvSpPr>
        <p:spPr>
          <a:xfrm>
            <a:off x="8129016" y="4069080"/>
            <a:ext cx="3438144" cy="868680"/>
          </a:xfrm>
          <a:prstGeom prst="roundRect">
            <a:avLst>
              <a:gd name="adj" fmla="val 8421"/>
            </a:avLst>
          </a:prstGeom>
          <a:solidFill>
            <a:srgbClr val="122038"/>
          </a:solidFill>
          <a:ln w="12700">
            <a:solidFill>
              <a:srgbClr val="22314B"/>
            </a:solidFill>
            <a:prstDash val="solid"/>
          </a:ln>
        </p:spPr>
      </p:sp>
      <p:sp>
        <p:nvSpPr>
          <p:cNvPr id="36" name="Text 34"/>
          <p:cNvSpPr/>
          <p:nvPr/>
        </p:nvSpPr>
        <p:spPr>
          <a:xfrm>
            <a:off x="8275320" y="4197096"/>
            <a:ext cx="3145536" cy="164592"/>
          </a:xfrm>
          <a:prstGeom prst="rect">
            <a:avLst/>
          </a:prstGeom>
          <a:noFill/>
          <a:ln/>
        </p:spPr>
        <p:txBody>
          <a:bodyPr wrap="square" lIns="0" tIns="0" rIns="0" bIns="0" rtlCol="0" anchor="ctr"/>
          <a:lstStyle/>
          <a:p>
            <a:pPr indent="0" marL="0">
              <a:buNone/>
            </a:pPr>
            <a:r>
              <a:rPr lang="en-US" sz="1000" b="1" dirty="0">
                <a:solidFill>
                  <a:srgbClr val="F97316"/>
                </a:solidFill>
                <a:latin typeface="Aptos" pitchFamily="34" charset="0"/>
                <a:ea typeface="Aptos" pitchFamily="34" charset="-122"/>
                <a:cs typeface="Aptos" pitchFamily="34" charset="-120"/>
              </a:rPr>
              <a:t>F1 nedir?</a:t>
            </a:r>
            <a:endParaRPr lang="en-US" sz="1000" dirty="0"/>
          </a:p>
        </p:txBody>
      </p:sp>
      <p:sp>
        <p:nvSpPr>
          <p:cNvPr id="37" name="Text 35"/>
          <p:cNvSpPr/>
          <p:nvPr/>
        </p:nvSpPr>
        <p:spPr>
          <a:xfrm>
            <a:off x="8275320" y="4398264"/>
            <a:ext cx="3145536" cy="402336"/>
          </a:xfrm>
          <a:prstGeom prst="rect">
            <a:avLst/>
          </a:prstGeom>
          <a:noFill/>
          <a:ln/>
        </p:spPr>
        <p:txBody>
          <a:bodyPr wrap="square" lIns="0" tIns="0" rIns="0" bIns="0" rtlCol="0" anchor="t"/>
          <a:lstStyle/>
          <a:p>
            <a:pPr indent="0" marL="0">
              <a:buNone/>
            </a:pPr>
            <a:r>
              <a:rPr lang="en-US" sz="900" dirty="0">
                <a:solidFill>
                  <a:srgbClr val="B8C4D5"/>
                </a:solidFill>
                <a:latin typeface="Aptos" pitchFamily="34" charset="0"/>
                <a:ea typeface="Aptos" pitchFamily="34" charset="-122"/>
                <a:cs typeface="Aptos" pitchFamily="34" charset="-120"/>
              </a:rPr>
              <a:t>Precision ve recall dengesini tek sayida toplar. Teknik olmayan ekipler icin 'genel basari skoru' gibi okunabilir.</a:t>
            </a:r>
            <a:endParaRPr lang="en-US" sz="900" dirty="0"/>
          </a:p>
        </p:txBody>
      </p:sp>
      <p:sp>
        <p:nvSpPr>
          <p:cNvPr id="38" name="Shape 36"/>
          <p:cNvSpPr/>
          <p:nvPr/>
        </p:nvSpPr>
        <p:spPr>
          <a:xfrm>
            <a:off x="594360" y="5138928"/>
            <a:ext cx="10972800" cy="868680"/>
          </a:xfrm>
          <a:prstGeom prst="roundRect">
            <a:avLst>
              <a:gd name="adj" fmla="val 8421"/>
            </a:avLst>
          </a:prstGeom>
          <a:solidFill>
            <a:srgbClr val="122038"/>
          </a:solidFill>
          <a:ln w="12700">
            <a:solidFill>
              <a:srgbClr val="22314B"/>
            </a:solidFill>
            <a:prstDash val="solid"/>
          </a:ln>
        </p:spPr>
      </p:sp>
      <p:sp>
        <p:nvSpPr>
          <p:cNvPr id="39" name="Text 37"/>
          <p:cNvSpPr/>
          <p:nvPr/>
        </p:nvSpPr>
        <p:spPr>
          <a:xfrm>
            <a:off x="740664" y="5266944"/>
            <a:ext cx="10680192" cy="164592"/>
          </a:xfrm>
          <a:prstGeom prst="rect">
            <a:avLst/>
          </a:prstGeom>
          <a:noFill/>
          <a:ln/>
        </p:spPr>
        <p:txBody>
          <a:bodyPr wrap="square" lIns="0" tIns="0" rIns="0" bIns="0" rtlCol="0" anchor="ctr"/>
          <a:lstStyle/>
          <a:p>
            <a:pPr indent="0" marL="0">
              <a:buNone/>
            </a:pPr>
            <a:r>
              <a:rPr lang="en-US" sz="1000" b="1" dirty="0">
                <a:solidFill>
                  <a:srgbClr val="EF4444"/>
                </a:solidFill>
                <a:latin typeface="Aptos" pitchFamily="34" charset="0"/>
                <a:ea typeface="Aptos" pitchFamily="34" charset="-122"/>
                <a:cs typeface="Aptos" pitchFamily="34" charset="-120"/>
              </a:rPr>
              <a:t>False positive rate nedir?</a:t>
            </a:r>
            <a:endParaRPr lang="en-US" sz="1000" dirty="0"/>
          </a:p>
        </p:txBody>
      </p:sp>
      <p:sp>
        <p:nvSpPr>
          <p:cNvPr id="40" name="Text 38"/>
          <p:cNvSpPr/>
          <p:nvPr/>
        </p:nvSpPr>
        <p:spPr>
          <a:xfrm>
            <a:off x="740664" y="5468112"/>
            <a:ext cx="10680192" cy="402336"/>
          </a:xfrm>
          <a:prstGeom prst="rect">
            <a:avLst/>
          </a:prstGeom>
          <a:noFill/>
          <a:ln/>
        </p:spPr>
        <p:txBody>
          <a:bodyPr wrap="square" lIns="0" tIns="0" rIns="0" bIns="0" rtlCol="0" anchor="t"/>
          <a:lstStyle/>
          <a:p>
            <a:pPr indent="0" marL="0">
              <a:buNone/>
            </a:pPr>
            <a:r>
              <a:rPr lang="en-US" sz="900" dirty="0">
                <a:solidFill>
                  <a:srgbClr val="B8C4D5"/>
                </a:solidFill>
                <a:latin typeface="Aptos" pitchFamily="34" charset="0"/>
                <a:ea typeface="Aptos" pitchFamily="34" charset="-122"/>
                <a:cs typeface="Aptos" pitchFamily="34" charset="-120"/>
              </a:rPr>
              <a:t>Sistemin gereksiz yere operasyonu uyarmasi. Bizim final detector sonucunda benchmark ailesinde bu oran 0.0 cikti; yani bu test setinde bos alarm uretmedi.</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8111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8111F"/>
          </a:solidFill>
          <a:ln w="12700">
            <a:solidFill>
              <a:srgbClr val="08111F">
                <a:alpha val="0"/>
              </a:srgbClr>
            </a:solidFill>
            <a:prstDash val="solid"/>
          </a:ln>
        </p:spPr>
      </p:sp>
      <p:sp>
        <p:nvSpPr>
          <p:cNvPr id="3" name="Shape 1"/>
          <p:cNvSpPr/>
          <p:nvPr/>
        </p:nvSpPr>
        <p:spPr>
          <a:xfrm>
            <a:off x="502920" y="292608"/>
            <a:ext cx="11183112" cy="27432"/>
          </a:xfrm>
          <a:prstGeom prst="rect">
            <a:avLst/>
          </a:prstGeom>
          <a:solidFill>
            <a:srgbClr val="F97316"/>
          </a:solidFill>
          <a:ln w="12700">
            <a:solidFill>
              <a:srgbClr val="F97316">
                <a:alpha val="0"/>
              </a:srgbClr>
            </a:solidFill>
            <a:prstDash val="solid"/>
          </a:ln>
        </p:spPr>
      </p:sp>
      <p:sp>
        <p:nvSpPr>
          <p:cNvPr id="4" name="Text 2"/>
          <p:cNvSpPr/>
          <p:nvPr/>
        </p:nvSpPr>
        <p:spPr>
          <a:xfrm>
            <a:off x="566928" y="109728"/>
            <a:ext cx="4389120" cy="164592"/>
          </a:xfrm>
          <a:prstGeom prst="rect">
            <a:avLst/>
          </a:prstGeom>
          <a:noFill/>
          <a:ln/>
        </p:spPr>
        <p:txBody>
          <a:bodyPr wrap="square" lIns="0" tIns="0" rIns="0" bIns="0" rtlCol="0" anchor="ctr"/>
          <a:lstStyle/>
          <a:p>
            <a:pPr indent="0" marL="0">
              <a:buNone/>
            </a:pPr>
            <a:r>
              <a:rPr lang="en-US" sz="1000" b="1" dirty="0">
                <a:solidFill>
                  <a:srgbClr val="F97316"/>
                </a:solidFill>
                <a:latin typeface="Aptos" pitchFamily="34" charset="0"/>
                <a:ea typeface="Aptos" pitchFamily="34" charset="-122"/>
                <a:cs typeface="Aptos" pitchFamily="34" charset="-120"/>
              </a:rPr>
              <a:t>URUN DENEYIMI</a:t>
            </a:r>
            <a:endParaRPr lang="en-US" sz="1000" dirty="0"/>
          </a:p>
        </p:txBody>
      </p:sp>
      <p:sp>
        <p:nvSpPr>
          <p:cNvPr id="5" name="Text 3"/>
          <p:cNvSpPr/>
          <p:nvPr/>
        </p:nvSpPr>
        <p:spPr>
          <a:xfrm>
            <a:off x="566928" y="438912"/>
            <a:ext cx="6583680" cy="310896"/>
          </a:xfrm>
          <a:prstGeom prst="rect">
            <a:avLst/>
          </a:prstGeom>
          <a:noFill/>
          <a:ln/>
        </p:spPr>
        <p:txBody>
          <a:bodyPr wrap="square" lIns="0" tIns="0" rIns="0" bIns="0" rtlCol="0" anchor="ctr"/>
          <a:lstStyle/>
          <a:p>
            <a:pPr indent="0" marL="0">
              <a:buNone/>
            </a:pPr>
            <a:r>
              <a:rPr lang="en-US" sz="2400" b="1" dirty="0">
                <a:solidFill>
                  <a:srgbClr val="F7FAFC"/>
                </a:solidFill>
                <a:latin typeface="Aptos Display" pitchFamily="34" charset="0"/>
                <a:ea typeface="Aptos Display" pitchFamily="34" charset="-122"/>
                <a:cs typeface="Aptos Display" pitchFamily="34" charset="-120"/>
              </a:rPr>
              <a:t>Yeni premium panelin goruntusu</a:t>
            </a:r>
            <a:endParaRPr lang="en-US" sz="2400" dirty="0"/>
          </a:p>
        </p:txBody>
      </p:sp>
      <p:sp>
        <p:nvSpPr>
          <p:cNvPr id="6" name="Text 4"/>
          <p:cNvSpPr/>
          <p:nvPr/>
        </p:nvSpPr>
        <p:spPr>
          <a:xfrm>
            <a:off x="566928" y="822960"/>
            <a:ext cx="8046720" cy="292608"/>
          </a:xfrm>
          <a:prstGeom prst="rect">
            <a:avLst/>
          </a:prstGeom>
          <a:noFill/>
          <a:ln/>
        </p:spPr>
        <p:txBody>
          <a:bodyPr wrap="square" lIns="0" tIns="0" rIns="0" bIns="0" rtlCol="0" anchor="ctr"/>
          <a:lstStyle/>
          <a:p>
            <a:pPr indent="0" marL="0">
              <a:buNone/>
            </a:pPr>
            <a:r>
              <a:rPr lang="en-US" sz="1100" dirty="0">
                <a:solidFill>
                  <a:srgbClr val="B8C4D5"/>
                </a:solidFill>
                <a:latin typeface="Aptos" pitchFamily="34" charset="0"/>
                <a:ea typeface="Aptos" pitchFamily="34" charset="-122"/>
                <a:cs typeface="Aptos" pitchFamily="34" charset="-120"/>
              </a:rPr>
              <a:t>Asagidaki ekran goruntuleri dogrudan calisan lokal Grafana stack'inden alinmistir.</a:t>
            </a:r>
            <a:endParaRPr lang="en-US" sz="1100" dirty="0"/>
          </a:p>
        </p:txBody>
      </p:sp>
      <p:sp>
        <p:nvSpPr>
          <p:cNvPr id="7" name="Text 5"/>
          <p:cNvSpPr/>
          <p:nvPr/>
        </p:nvSpPr>
        <p:spPr>
          <a:xfrm>
            <a:off x="566928" y="6510528"/>
            <a:ext cx="5120640" cy="146304"/>
          </a:xfrm>
          <a:prstGeom prst="rect">
            <a:avLst/>
          </a:prstGeom>
          <a:noFill/>
          <a:ln/>
        </p:spPr>
        <p:txBody>
          <a:bodyPr wrap="square" lIns="0" tIns="0" rIns="0" bIns="0" rtlCol="0" anchor="ctr"/>
          <a:lstStyle/>
          <a:p>
            <a:pPr indent="0" marL="0">
              <a:buNone/>
            </a:pPr>
            <a:r>
              <a:rPr lang="en-US" sz="800" dirty="0">
                <a:solidFill>
                  <a:srgbClr val="7D8CA2"/>
                </a:solidFill>
                <a:latin typeface="Aptos" pitchFamily="34" charset="0"/>
                <a:ea typeface="Aptos" pitchFamily="34" charset="-122"/>
                <a:cs typeface="Aptos" pitchFamily="34" charset="-120"/>
              </a:rPr>
              <a:t>Grafana Anomaly Detector | Final benchmark revizyonu</a:t>
            </a:r>
            <a:endParaRPr lang="en-US" sz="800" dirty="0"/>
          </a:p>
        </p:txBody>
      </p:sp>
      <p:sp>
        <p:nvSpPr>
          <p:cNvPr id="8" name="Text 6"/>
          <p:cNvSpPr/>
          <p:nvPr/>
        </p:nvSpPr>
        <p:spPr>
          <a:xfrm>
            <a:off x="11247120" y="6473952"/>
            <a:ext cx="365760" cy="182880"/>
          </a:xfrm>
          <a:prstGeom prst="rect">
            <a:avLst/>
          </a:prstGeom>
          <a:noFill/>
          <a:ln/>
        </p:spPr>
        <p:txBody>
          <a:bodyPr wrap="square" lIns="0" tIns="0" rIns="0" bIns="0" rtlCol="0" anchor="ctr"/>
          <a:lstStyle/>
          <a:p>
            <a:pPr algn="r" indent="0" marL="0">
              <a:buNone/>
            </a:pPr>
            <a:r>
              <a:rPr lang="en-US" sz="800" dirty="0">
                <a:solidFill>
                  <a:srgbClr val="7D8CA2"/>
                </a:solidFill>
                <a:latin typeface="Aptos" pitchFamily="34" charset="0"/>
                <a:ea typeface="Aptos" pitchFamily="34" charset="-122"/>
                <a:cs typeface="Aptos" pitchFamily="34" charset="-120"/>
              </a:rPr>
              <a:t>3</a:t>
            </a:r>
            <a:endParaRPr lang="en-US" sz="800" dirty="0"/>
          </a:p>
        </p:txBody>
      </p:sp>
      <p:sp>
        <p:nvSpPr>
          <p:cNvPr id="9" name="Shape 7"/>
          <p:cNvSpPr/>
          <p:nvPr/>
        </p:nvSpPr>
        <p:spPr>
          <a:xfrm>
            <a:off x="566928" y="1261872"/>
            <a:ext cx="7223760" cy="5010912"/>
          </a:xfrm>
          <a:prstGeom prst="roundRect">
            <a:avLst>
              <a:gd name="adj" fmla="val 1460"/>
            </a:avLst>
          </a:prstGeom>
          <a:solidFill>
            <a:srgbClr val="0F1A2B"/>
          </a:solidFill>
          <a:ln w="12700">
            <a:solidFill>
              <a:srgbClr val="22314B"/>
            </a:solidFill>
            <a:prstDash val="solid"/>
          </a:ln>
          <a:effectLst>
            <a:outerShdw sx="100000" sy="100000" kx="0" ky="0" algn="bl" rotWithShape="0" blurRad="25400" dist="12700" dir="2700000">
              <a:srgbClr val="000000">
                <a:alpha val="20000"/>
              </a:srgbClr>
            </a:outerShdw>
          </a:effectLst>
        </p:spPr>
      </p:sp>
      <p:pic>
        <p:nvPicPr>
          <p:cNvPr id="10" name="Image 0" descr="C:\Users\alpas\Documents\CodexSample\grafana-anomaly-lab\benchmarks\presentation\assets\screenshots\grafana-multi-metric-premium.png">    </p:cNvPr>
          <p:cNvPicPr>
            <a:picLocks noChangeAspect="1"/>
          </p:cNvPicPr>
          <p:nvPr/>
        </p:nvPicPr>
        <p:blipFill>
          <a:blip r:embed="rId1"/>
          <a:stretch>
            <a:fillRect/>
          </a:stretch>
        </p:blipFill>
        <p:spPr>
          <a:xfrm>
            <a:off x="1347826" y="1408176"/>
            <a:ext cx="5661965" cy="4718304"/>
          </a:xfrm>
          <a:prstGeom prst="rect">
            <a:avLst/>
          </a:prstGeom>
        </p:spPr>
      </p:pic>
      <p:sp>
        <p:nvSpPr>
          <p:cNvPr id="11" name="Shape 8"/>
          <p:cNvSpPr/>
          <p:nvPr/>
        </p:nvSpPr>
        <p:spPr>
          <a:xfrm>
            <a:off x="7973568" y="1325880"/>
            <a:ext cx="3611880" cy="914400"/>
          </a:xfrm>
          <a:prstGeom prst="roundRect">
            <a:avLst>
              <a:gd name="adj" fmla="val 8000"/>
            </a:avLst>
          </a:prstGeom>
          <a:solidFill>
            <a:srgbClr val="122038"/>
          </a:solidFill>
          <a:ln w="12700">
            <a:solidFill>
              <a:srgbClr val="22314B"/>
            </a:solidFill>
            <a:prstDash val="solid"/>
          </a:ln>
          <a:effectLst>
            <a:outerShdw sx="100000" sy="100000" kx="0" ky="0" algn="bl" rotWithShape="0" blurRad="25400" dist="12700" dir="2700000">
              <a:srgbClr val="000000">
                <a:alpha val="20000"/>
              </a:srgbClr>
            </a:outerShdw>
          </a:effectLst>
        </p:spPr>
      </p:sp>
      <p:sp>
        <p:nvSpPr>
          <p:cNvPr id="12" name="Shape 9"/>
          <p:cNvSpPr/>
          <p:nvPr/>
        </p:nvSpPr>
        <p:spPr>
          <a:xfrm>
            <a:off x="8119872" y="1472184"/>
            <a:ext cx="73152" cy="621792"/>
          </a:xfrm>
          <a:prstGeom prst="roundRect">
            <a:avLst>
              <a:gd name="adj" fmla="val 25000"/>
            </a:avLst>
          </a:prstGeom>
          <a:solidFill>
            <a:srgbClr val="F97316"/>
          </a:solidFill>
          <a:ln w="12700">
            <a:solidFill>
              <a:srgbClr val="F97316">
                <a:alpha val="0"/>
              </a:srgbClr>
            </a:solidFill>
            <a:prstDash val="solid"/>
          </a:ln>
        </p:spPr>
      </p:sp>
      <p:sp>
        <p:nvSpPr>
          <p:cNvPr id="13" name="Text 10"/>
          <p:cNvSpPr/>
          <p:nvPr/>
        </p:nvSpPr>
        <p:spPr>
          <a:xfrm>
            <a:off x="8266176" y="1472184"/>
            <a:ext cx="3172968" cy="201168"/>
          </a:xfrm>
          <a:prstGeom prst="rect">
            <a:avLst/>
          </a:prstGeom>
          <a:noFill/>
          <a:ln/>
        </p:spPr>
        <p:txBody>
          <a:bodyPr wrap="square" lIns="0" tIns="0" rIns="0" bIns="0" rtlCol="0" anchor="ctr"/>
          <a:lstStyle/>
          <a:p>
            <a:pPr indent="0" marL="0">
              <a:buNone/>
            </a:pPr>
            <a:r>
              <a:rPr lang="en-US" sz="1100" b="1" dirty="0">
                <a:solidFill>
                  <a:srgbClr val="F7FAFC"/>
                </a:solidFill>
                <a:latin typeface="Aptos" pitchFamily="34" charset="0"/>
                <a:ea typeface="Aptos" pitchFamily="34" charset="-122"/>
                <a:cs typeface="Aptos" pitchFamily="34" charset="-120"/>
              </a:rPr>
              <a:t>Detected incidents</a:t>
            </a:r>
            <a:endParaRPr lang="en-US" sz="1100" dirty="0"/>
          </a:p>
        </p:txBody>
      </p:sp>
      <p:sp>
        <p:nvSpPr>
          <p:cNvPr id="14" name="Text 11"/>
          <p:cNvSpPr/>
          <p:nvPr/>
        </p:nvSpPr>
        <p:spPr>
          <a:xfrm>
            <a:off x="8266176" y="1709928"/>
            <a:ext cx="3172968" cy="420624"/>
          </a:xfrm>
          <a:prstGeom prst="rect">
            <a:avLst/>
          </a:prstGeom>
          <a:noFill/>
          <a:ln/>
        </p:spPr>
        <p:txBody>
          <a:bodyPr wrap="square" lIns="0" tIns="0" rIns="0" bIns="0" rtlCol="0" anchor="t"/>
          <a:lstStyle/>
          <a:p>
            <a:pPr indent="0" marL="0">
              <a:buNone/>
            </a:pPr>
            <a:r>
              <a:rPr lang="en-US" sz="900" dirty="0">
                <a:solidFill>
                  <a:srgbClr val="B8C4D5"/>
                </a:solidFill>
                <a:latin typeface="Aptos" pitchFamily="34" charset="0"/>
                <a:ea typeface="Aptos" pitchFamily="34" charset="-122"/>
                <a:cs typeface="Aptos" pitchFamily="34" charset="-120"/>
              </a:rPr>
              <a:t>Artik yalnizca isaretlenen noktayi degil, olaylarin zaman eksenindeki gruplanmis akisini da gosteriyoruz. Bu, operasyonda hizli tarama icin kritik.</a:t>
            </a:r>
            <a:endParaRPr lang="en-US" sz="900" dirty="0"/>
          </a:p>
        </p:txBody>
      </p:sp>
      <p:sp>
        <p:nvSpPr>
          <p:cNvPr id="15" name="Shape 12"/>
          <p:cNvSpPr/>
          <p:nvPr/>
        </p:nvSpPr>
        <p:spPr>
          <a:xfrm>
            <a:off x="7973568" y="2395728"/>
            <a:ext cx="3611880" cy="914400"/>
          </a:xfrm>
          <a:prstGeom prst="roundRect">
            <a:avLst>
              <a:gd name="adj" fmla="val 8000"/>
            </a:avLst>
          </a:prstGeom>
          <a:solidFill>
            <a:srgbClr val="122038"/>
          </a:solidFill>
          <a:ln w="12700">
            <a:solidFill>
              <a:srgbClr val="22314B"/>
            </a:solidFill>
            <a:prstDash val="solid"/>
          </a:ln>
          <a:effectLst>
            <a:outerShdw sx="100000" sy="100000" kx="0" ky="0" algn="bl" rotWithShape="0" blurRad="25400" dist="12700" dir="2700000">
              <a:srgbClr val="000000">
                <a:alpha val="20000"/>
              </a:srgbClr>
            </a:outerShdw>
          </a:effectLst>
        </p:spPr>
      </p:sp>
      <p:sp>
        <p:nvSpPr>
          <p:cNvPr id="16" name="Shape 13"/>
          <p:cNvSpPr/>
          <p:nvPr/>
        </p:nvSpPr>
        <p:spPr>
          <a:xfrm>
            <a:off x="8119872" y="2542032"/>
            <a:ext cx="73152" cy="621792"/>
          </a:xfrm>
          <a:prstGeom prst="roundRect">
            <a:avLst>
              <a:gd name="adj" fmla="val 25000"/>
            </a:avLst>
          </a:prstGeom>
          <a:solidFill>
            <a:srgbClr val="38BDF8"/>
          </a:solidFill>
          <a:ln w="12700">
            <a:solidFill>
              <a:srgbClr val="38BDF8">
                <a:alpha val="0"/>
              </a:srgbClr>
            </a:solidFill>
            <a:prstDash val="solid"/>
          </a:ln>
        </p:spPr>
      </p:sp>
      <p:sp>
        <p:nvSpPr>
          <p:cNvPr id="17" name="Text 14"/>
          <p:cNvSpPr/>
          <p:nvPr/>
        </p:nvSpPr>
        <p:spPr>
          <a:xfrm>
            <a:off x="8266176" y="2542032"/>
            <a:ext cx="3172968" cy="201168"/>
          </a:xfrm>
          <a:prstGeom prst="rect">
            <a:avLst/>
          </a:prstGeom>
          <a:noFill/>
          <a:ln/>
        </p:spPr>
        <p:txBody>
          <a:bodyPr wrap="square" lIns="0" tIns="0" rIns="0" bIns="0" rtlCol="0" anchor="ctr"/>
          <a:lstStyle/>
          <a:p>
            <a:pPr indent="0" marL="0">
              <a:buNone/>
            </a:pPr>
            <a:r>
              <a:rPr lang="en-US" sz="1100" b="1" dirty="0">
                <a:solidFill>
                  <a:srgbClr val="F7FAFC"/>
                </a:solidFill>
                <a:latin typeface="Aptos" pitchFamily="34" charset="0"/>
                <a:ea typeface="Aptos" pitchFamily="34" charset="-122"/>
                <a:cs typeface="Aptos" pitchFamily="34" charset="-120"/>
              </a:rPr>
              <a:t>Anomaly inspector</a:t>
            </a:r>
            <a:endParaRPr lang="en-US" sz="1100" dirty="0"/>
          </a:p>
        </p:txBody>
      </p:sp>
      <p:sp>
        <p:nvSpPr>
          <p:cNvPr id="18" name="Text 15"/>
          <p:cNvSpPr/>
          <p:nvPr/>
        </p:nvSpPr>
        <p:spPr>
          <a:xfrm>
            <a:off x="8266176" y="2779776"/>
            <a:ext cx="3172968" cy="420624"/>
          </a:xfrm>
          <a:prstGeom prst="rect">
            <a:avLst/>
          </a:prstGeom>
          <a:noFill/>
          <a:ln/>
        </p:spPr>
        <p:txBody>
          <a:bodyPr wrap="square" lIns="0" tIns="0" rIns="0" bIns="0" rtlCol="0" anchor="t"/>
          <a:lstStyle/>
          <a:p>
            <a:pPr indent="0" marL="0">
              <a:buNone/>
            </a:pPr>
            <a:r>
              <a:rPr lang="en-US" sz="900" dirty="0">
                <a:solidFill>
                  <a:srgbClr val="B8C4D5"/>
                </a:solidFill>
                <a:latin typeface="Aptos" pitchFamily="34" charset="0"/>
                <a:ea typeface="Aptos" pitchFamily="34" charset="-122"/>
                <a:cs typeface="Aptos" pitchFamily="34" charset="-120"/>
              </a:rPr>
              <a:t>Secilen olay icin beklenen deger, mevcut deger, confidence, veri kalitesi ve ana neden ayni kartta toplanir.</a:t>
            </a:r>
            <a:endParaRPr lang="en-US" sz="900" dirty="0"/>
          </a:p>
        </p:txBody>
      </p:sp>
      <p:sp>
        <p:nvSpPr>
          <p:cNvPr id="19" name="Shape 16"/>
          <p:cNvSpPr/>
          <p:nvPr/>
        </p:nvSpPr>
        <p:spPr>
          <a:xfrm>
            <a:off x="7973568" y="3465576"/>
            <a:ext cx="3611880" cy="914400"/>
          </a:xfrm>
          <a:prstGeom prst="roundRect">
            <a:avLst>
              <a:gd name="adj" fmla="val 8000"/>
            </a:avLst>
          </a:prstGeom>
          <a:solidFill>
            <a:srgbClr val="122038"/>
          </a:solidFill>
          <a:ln w="12700">
            <a:solidFill>
              <a:srgbClr val="22314B"/>
            </a:solidFill>
            <a:prstDash val="solid"/>
          </a:ln>
          <a:effectLst>
            <a:outerShdw sx="100000" sy="100000" kx="0" ky="0" algn="bl" rotWithShape="0" blurRad="25400" dist="12700" dir="2700000">
              <a:srgbClr val="000000">
                <a:alpha val="20000"/>
              </a:srgbClr>
            </a:outerShdw>
          </a:effectLst>
        </p:spPr>
      </p:sp>
      <p:sp>
        <p:nvSpPr>
          <p:cNvPr id="20" name="Shape 17"/>
          <p:cNvSpPr/>
          <p:nvPr/>
        </p:nvSpPr>
        <p:spPr>
          <a:xfrm>
            <a:off x="8119872" y="3611880"/>
            <a:ext cx="73152" cy="621792"/>
          </a:xfrm>
          <a:prstGeom prst="roundRect">
            <a:avLst>
              <a:gd name="adj" fmla="val 25000"/>
            </a:avLst>
          </a:prstGeom>
          <a:solidFill>
            <a:srgbClr val="22C55E"/>
          </a:solidFill>
          <a:ln w="12700">
            <a:solidFill>
              <a:srgbClr val="22C55E">
                <a:alpha val="0"/>
              </a:srgbClr>
            </a:solidFill>
            <a:prstDash val="solid"/>
          </a:ln>
        </p:spPr>
      </p:sp>
      <p:sp>
        <p:nvSpPr>
          <p:cNvPr id="21" name="Text 18"/>
          <p:cNvSpPr/>
          <p:nvPr/>
        </p:nvSpPr>
        <p:spPr>
          <a:xfrm>
            <a:off x="8266176" y="3611880"/>
            <a:ext cx="3172968" cy="201168"/>
          </a:xfrm>
          <a:prstGeom prst="rect">
            <a:avLst/>
          </a:prstGeom>
          <a:noFill/>
          <a:ln/>
        </p:spPr>
        <p:txBody>
          <a:bodyPr wrap="square" lIns="0" tIns="0" rIns="0" bIns="0" rtlCol="0" anchor="ctr"/>
          <a:lstStyle/>
          <a:p>
            <a:pPr indent="0" marL="0">
              <a:buNone/>
            </a:pPr>
            <a:r>
              <a:rPr lang="en-US" sz="1100" b="1" dirty="0">
                <a:solidFill>
                  <a:srgbClr val="F7FAFC"/>
                </a:solidFill>
                <a:latin typeface="Aptos" pitchFamily="34" charset="0"/>
                <a:ea typeface="Aptos" pitchFamily="34" charset="-122"/>
                <a:cs typeface="Aptos" pitchFamily="34" charset="-120"/>
              </a:rPr>
              <a:t>Chart okunabilirligi</a:t>
            </a:r>
            <a:endParaRPr lang="en-US" sz="1100" dirty="0"/>
          </a:p>
        </p:txBody>
      </p:sp>
      <p:sp>
        <p:nvSpPr>
          <p:cNvPr id="22" name="Text 19"/>
          <p:cNvSpPr/>
          <p:nvPr/>
        </p:nvSpPr>
        <p:spPr>
          <a:xfrm>
            <a:off x="8266176" y="3849624"/>
            <a:ext cx="3172968" cy="420624"/>
          </a:xfrm>
          <a:prstGeom prst="rect">
            <a:avLst/>
          </a:prstGeom>
          <a:noFill/>
          <a:ln/>
        </p:spPr>
        <p:txBody>
          <a:bodyPr wrap="square" lIns="0" tIns="0" rIns="0" bIns="0" rtlCol="0" anchor="t"/>
          <a:lstStyle/>
          <a:p>
            <a:pPr indent="0" marL="0">
              <a:buNone/>
            </a:pPr>
            <a:r>
              <a:rPr lang="en-US" sz="900" dirty="0">
                <a:solidFill>
                  <a:srgbClr val="B8C4D5"/>
                </a:solidFill>
                <a:latin typeface="Aptos" pitchFamily="34" charset="0"/>
                <a:ea typeface="Aptos" pitchFamily="34" charset="-122"/>
                <a:cs typeface="Aptos" pitchFamily="34" charset="-120"/>
              </a:rPr>
              <a:t>Crosshair, sabitlenen tooltip, incident ribbon, daha belirgin marker'lar ve zaman ekseni sayesinde takip daha net hale geldi.</a:t>
            </a:r>
            <a:endParaRPr lang="en-US" sz="900" dirty="0"/>
          </a:p>
        </p:txBody>
      </p:sp>
      <p:sp>
        <p:nvSpPr>
          <p:cNvPr id="23" name="Shape 20"/>
          <p:cNvSpPr/>
          <p:nvPr/>
        </p:nvSpPr>
        <p:spPr>
          <a:xfrm>
            <a:off x="7973568" y="4535424"/>
            <a:ext cx="3611880" cy="1591056"/>
          </a:xfrm>
          <a:prstGeom prst="roundRect">
            <a:avLst>
              <a:gd name="adj" fmla="val 4598"/>
            </a:avLst>
          </a:prstGeom>
          <a:solidFill>
            <a:srgbClr val="122038"/>
          </a:solidFill>
          <a:ln w="12700">
            <a:solidFill>
              <a:srgbClr val="22314B"/>
            </a:solidFill>
            <a:prstDash val="solid"/>
          </a:ln>
          <a:effectLst>
            <a:outerShdw sx="100000" sy="100000" kx="0" ky="0" algn="bl" rotWithShape="0" blurRad="25400" dist="12700" dir="2700000">
              <a:srgbClr val="000000">
                <a:alpha val="20000"/>
              </a:srgbClr>
            </a:outerShdw>
          </a:effectLst>
        </p:spPr>
      </p:sp>
      <p:sp>
        <p:nvSpPr>
          <p:cNvPr id="24" name="Text 21"/>
          <p:cNvSpPr/>
          <p:nvPr/>
        </p:nvSpPr>
        <p:spPr>
          <a:xfrm>
            <a:off x="8156448" y="4645152"/>
            <a:ext cx="1645920" cy="164592"/>
          </a:xfrm>
          <a:prstGeom prst="rect">
            <a:avLst/>
          </a:prstGeom>
          <a:noFill/>
          <a:ln/>
        </p:spPr>
        <p:txBody>
          <a:bodyPr wrap="square" lIns="0" tIns="0" rIns="0" bIns="0" rtlCol="0" anchor="ctr"/>
          <a:lstStyle/>
          <a:p>
            <a:pPr indent="0" marL="0">
              <a:buNone/>
            </a:pPr>
            <a:r>
              <a:rPr lang="en-US" sz="1000" b="1" dirty="0">
                <a:solidFill>
                  <a:srgbClr val="F7FAFC"/>
                </a:solidFill>
                <a:latin typeface="Aptos" pitchFamily="34" charset="0"/>
                <a:ea typeface="Aptos" pitchFamily="34" charset="-122"/>
                <a:cs typeface="Aptos" pitchFamily="34" charset="-120"/>
              </a:rPr>
              <a:t>Single metric gorunumu</a:t>
            </a:r>
            <a:endParaRPr lang="en-US" sz="1000" dirty="0"/>
          </a:p>
        </p:txBody>
      </p:sp>
      <p:pic>
        <p:nvPicPr>
          <p:cNvPr id="25" name="Image 1" descr="C:\Users\alpas\Documents\CodexSample\grafana-anomaly-lab\benchmarks\presentation\assets\screenshots\grafana-single-metric-premium.png">    </p:cNvPr>
          <p:cNvPicPr>
            <a:picLocks noChangeAspect="1"/>
          </p:cNvPicPr>
          <p:nvPr/>
        </p:nvPicPr>
        <p:blipFill>
          <a:blip r:embed="rId2"/>
          <a:stretch>
            <a:fillRect/>
          </a:stretch>
        </p:blipFill>
        <p:spPr>
          <a:xfrm>
            <a:off x="9136685" y="4882896"/>
            <a:ext cx="1294790" cy="107899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8111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8111F"/>
          </a:solidFill>
          <a:ln w="12700">
            <a:solidFill>
              <a:srgbClr val="08111F">
                <a:alpha val="0"/>
              </a:srgbClr>
            </a:solidFill>
            <a:prstDash val="solid"/>
          </a:ln>
        </p:spPr>
      </p:sp>
      <p:sp>
        <p:nvSpPr>
          <p:cNvPr id="3" name="Shape 1"/>
          <p:cNvSpPr/>
          <p:nvPr/>
        </p:nvSpPr>
        <p:spPr>
          <a:xfrm>
            <a:off x="502920" y="292608"/>
            <a:ext cx="11183112" cy="27432"/>
          </a:xfrm>
          <a:prstGeom prst="rect">
            <a:avLst/>
          </a:prstGeom>
          <a:solidFill>
            <a:srgbClr val="F97316"/>
          </a:solidFill>
          <a:ln w="12700">
            <a:solidFill>
              <a:srgbClr val="F97316">
                <a:alpha val="0"/>
              </a:srgbClr>
            </a:solidFill>
            <a:prstDash val="solid"/>
          </a:ln>
        </p:spPr>
      </p:sp>
      <p:sp>
        <p:nvSpPr>
          <p:cNvPr id="4" name="Text 2"/>
          <p:cNvSpPr/>
          <p:nvPr/>
        </p:nvSpPr>
        <p:spPr>
          <a:xfrm>
            <a:off x="566928" y="109728"/>
            <a:ext cx="4389120" cy="164592"/>
          </a:xfrm>
          <a:prstGeom prst="rect">
            <a:avLst/>
          </a:prstGeom>
          <a:noFill/>
          <a:ln/>
        </p:spPr>
        <p:txBody>
          <a:bodyPr wrap="square" lIns="0" tIns="0" rIns="0" bIns="0" rtlCol="0" anchor="ctr"/>
          <a:lstStyle/>
          <a:p>
            <a:pPr indent="0" marL="0">
              <a:buNone/>
            </a:pPr>
            <a:r>
              <a:rPr lang="en-US" sz="1000" b="1" dirty="0">
                <a:solidFill>
                  <a:srgbClr val="F97316"/>
                </a:solidFill>
                <a:latin typeface="Aptos" pitchFamily="34" charset="0"/>
                <a:ea typeface="Aptos" pitchFamily="34" charset="-122"/>
                <a:cs typeface="Aptos" pitchFamily="34" charset="-120"/>
              </a:rPr>
              <a:t>BENCHMARK METODOLOJISI</a:t>
            </a:r>
            <a:endParaRPr lang="en-US" sz="1000" dirty="0"/>
          </a:p>
        </p:txBody>
      </p:sp>
      <p:sp>
        <p:nvSpPr>
          <p:cNvPr id="5" name="Text 3"/>
          <p:cNvSpPr/>
          <p:nvPr/>
        </p:nvSpPr>
        <p:spPr>
          <a:xfrm>
            <a:off x="566928" y="438912"/>
            <a:ext cx="6583680" cy="310896"/>
          </a:xfrm>
          <a:prstGeom prst="rect">
            <a:avLst/>
          </a:prstGeom>
          <a:noFill/>
          <a:ln/>
        </p:spPr>
        <p:txBody>
          <a:bodyPr wrap="square" lIns="0" tIns="0" rIns="0" bIns="0" rtlCol="0" anchor="ctr"/>
          <a:lstStyle/>
          <a:p>
            <a:pPr indent="0" marL="0">
              <a:buNone/>
            </a:pPr>
            <a:r>
              <a:rPr lang="en-US" sz="2400" b="1" dirty="0">
                <a:solidFill>
                  <a:srgbClr val="F7FAFC"/>
                </a:solidFill>
                <a:latin typeface="Aptos Display" pitchFamily="34" charset="0"/>
                <a:ea typeface="Aptos Display" pitchFamily="34" charset="-122"/>
                <a:cs typeface="Aptos Display" pitchFamily="34" charset="-120"/>
              </a:rPr>
              <a:t>Ayni veri, ayni etiket, ayni kiyas mantigi</a:t>
            </a:r>
            <a:endParaRPr lang="en-US" sz="2400" dirty="0"/>
          </a:p>
        </p:txBody>
      </p:sp>
      <p:sp>
        <p:nvSpPr>
          <p:cNvPr id="6" name="Text 4"/>
          <p:cNvSpPr/>
          <p:nvPr/>
        </p:nvSpPr>
        <p:spPr>
          <a:xfrm>
            <a:off x="566928" y="822960"/>
            <a:ext cx="8046720" cy="292608"/>
          </a:xfrm>
          <a:prstGeom prst="rect">
            <a:avLst/>
          </a:prstGeom>
          <a:noFill/>
          <a:ln/>
        </p:spPr>
        <p:txBody>
          <a:bodyPr wrap="square" lIns="0" tIns="0" rIns="0" bIns="0" rtlCol="0" anchor="ctr"/>
          <a:lstStyle/>
          <a:p>
            <a:pPr indent="0" marL="0">
              <a:buNone/>
            </a:pPr>
            <a:r>
              <a:rPr lang="en-US" sz="1100" dirty="0">
                <a:solidFill>
                  <a:srgbClr val="B8C4D5"/>
                </a:solidFill>
                <a:latin typeface="Aptos" pitchFamily="34" charset="0"/>
                <a:ea typeface="Aptos" pitchFamily="34" charset="-122"/>
                <a:cs typeface="Aptos" pitchFamily="34" charset="-120"/>
              </a:rPr>
              <a:t>Bu benchmark'i etkili yapan sey, iki tarafa da ayni labeled dataset'in uygulanmis olmasidir.</a:t>
            </a:r>
            <a:endParaRPr lang="en-US" sz="1100" dirty="0"/>
          </a:p>
        </p:txBody>
      </p:sp>
      <p:sp>
        <p:nvSpPr>
          <p:cNvPr id="7" name="Text 5"/>
          <p:cNvSpPr/>
          <p:nvPr/>
        </p:nvSpPr>
        <p:spPr>
          <a:xfrm>
            <a:off x="566928" y="6510528"/>
            <a:ext cx="5120640" cy="146304"/>
          </a:xfrm>
          <a:prstGeom prst="rect">
            <a:avLst/>
          </a:prstGeom>
          <a:noFill/>
          <a:ln/>
        </p:spPr>
        <p:txBody>
          <a:bodyPr wrap="square" lIns="0" tIns="0" rIns="0" bIns="0" rtlCol="0" anchor="ctr"/>
          <a:lstStyle/>
          <a:p>
            <a:pPr indent="0" marL="0">
              <a:buNone/>
            </a:pPr>
            <a:r>
              <a:rPr lang="en-US" sz="800" dirty="0">
                <a:solidFill>
                  <a:srgbClr val="7D8CA2"/>
                </a:solidFill>
                <a:latin typeface="Aptos" pitchFamily="34" charset="0"/>
                <a:ea typeface="Aptos" pitchFamily="34" charset="-122"/>
                <a:cs typeface="Aptos" pitchFamily="34" charset="-120"/>
              </a:rPr>
              <a:t>Grafana Anomaly Detector | Final benchmark revizyonu</a:t>
            </a:r>
            <a:endParaRPr lang="en-US" sz="800" dirty="0"/>
          </a:p>
        </p:txBody>
      </p:sp>
      <p:sp>
        <p:nvSpPr>
          <p:cNvPr id="8" name="Text 6"/>
          <p:cNvSpPr/>
          <p:nvPr/>
        </p:nvSpPr>
        <p:spPr>
          <a:xfrm>
            <a:off x="11247120" y="6473952"/>
            <a:ext cx="365760" cy="182880"/>
          </a:xfrm>
          <a:prstGeom prst="rect">
            <a:avLst/>
          </a:prstGeom>
          <a:noFill/>
          <a:ln/>
        </p:spPr>
        <p:txBody>
          <a:bodyPr wrap="square" lIns="0" tIns="0" rIns="0" bIns="0" rtlCol="0" anchor="ctr"/>
          <a:lstStyle/>
          <a:p>
            <a:pPr algn="r" indent="0" marL="0">
              <a:buNone/>
            </a:pPr>
            <a:r>
              <a:rPr lang="en-US" sz="800" dirty="0">
                <a:solidFill>
                  <a:srgbClr val="7D8CA2"/>
                </a:solidFill>
                <a:latin typeface="Aptos" pitchFamily="34" charset="0"/>
                <a:ea typeface="Aptos" pitchFamily="34" charset="-122"/>
                <a:cs typeface="Aptos" pitchFamily="34" charset="-120"/>
              </a:rPr>
              <a:t>4</a:t>
            </a:r>
            <a:endParaRPr lang="en-US" sz="800" dirty="0"/>
          </a:p>
        </p:txBody>
      </p:sp>
      <p:sp>
        <p:nvSpPr>
          <p:cNvPr id="9" name="Shape 7"/>
          <p:cNvSpPr/>
          <p:nvPr/>
        </p:nvSpPr>
        <p:spPr>
          <a:xfrm>
            <a:off x="621792" y="1417320"/>
            <a:ext cx="2560320" cy="914400"/>
          </a:xfrm>
          <a:prstGeom prst="roundRect">
            <a:avLst>
              <a:gd name="adj" fmla="val 8000"/>
            </a:avLst>
          </a:prstGeom>
          <a:solidFill>
            <a:srgbClr val="122038"/>
          </a:solidFill>
          <a:ln w="12700">
            <a:solidFill>
              <a:srgbClr val="22314B"/>
            </a:solidFill>
            <a:prstDash val="solid"/>
          </a:ln>
          <a:effectLst>
            <a:outerShdw sx="100000" sy="100000" kx="0" ky="0" algn="bl" rotWithShape="0" blurRad="25400" dist="12700" dir="2700000">
              <a:srgbClr val="000000">
                <a:alpha val="20000"/>
              </a:srgbClr>
            </a:outerShdw>
          </a:effectLst>
        </p:spPr>
      </p:sp>
      <p:sp>
        <p:nvSpPr>
          <p:cNvPr id="10" name="Shape 8"/>
          <p:cNvSpPr/>
          <p:nvPr/>
        </p:nvSpPr>
        <p:spPr>
          <a:xfrm>
            <a:off x="768096" y="1563624"/>
            <a:ext cx="73152" cy="621792"/>
          </a:xfrm>
          <a:prstGeom prst="roundRect">
            <a:avLst>
              <a:gd name="adj" fmla="val 25000"/>
            </a:avLst>
          </a:prstGeom>
          <a:solidFill>
            <a:srgbClr val="F97316"/>
          </a:solidFill>
          <a:ln w="12700">
            <a:solidFill>
              <a:srgbClr val="F97316">
                <a:alpha val="0"/>
              </a:srgbClr>
            </a:solidFill>
            <a:prstDash val="solid"/>
          </a:ln>
        </p:spPr>
      </p:sp>
      <p:sp>
        <p:nvSpPr>
          <p:cNvPr id="11" name="Text 9"/>
          <p:cNvSpPr/>
          <p:nvPr/>
        </p:nvSpPr>
        <p:spPr>
          <a:xfrm>
            <a:off x="914400" y="1563624"/>
            <a:ext cx="2121408" cy="201168"/>
          </a:xfrm>
          <a:prstGeom prst="rect">
            <a:avLst/>
          </a:prstGeom>
          <a:noFill/>
          <a:ln/>
        </p:spPr>
        <p:txBody>
          <a:bodyPr wrap="square" lIns="0" tIns="0" rIns="0" bIns="0" rtlCol="0" anchor="ctr"/>
          <a:lstStyle/>
          <a:p>
            <a:pPr indent="0" marL="0">
              <a:buNone/>
            </a:pPr>
            <a:r>
              <a:rPr lang="en-US" sz="1100" b="1" dirty="0">
                <a:solidFill>
                  <a:srgbClr val="F7FAFC"/>
                </a:solidFill>
                <a:latin typeface="Aptos" pitchFamily="34" charset="0"/>
                <a:ea typeface="Aptos" pitchFamily="34" charset="-122"/>
                <a:cs typeface="Aptos" pitchFamily="34" charset="-120"/>
              </a:rPr>
              <a:t>1. Veri seti</a:t>
            </a:r>
            <a:endParaRPr lang="en-US" sz="1100" dirty="0"/>
          </a:p>
        </p:txBody>
      </p:sp>
      <p:sp>
        <p:nvSpPr>
          <p:cNvPr id="12" name="Text 10"/>
          <p:cNvSpPr/>
          <p:nvPr/>
        </p:nvSpPr>
        <p:spPr>
          <a:xfrm>
            <a:off x="914400" y="1801368"/>
            <a:ext cx="2121408" cy="420624"/>
          </a:xfrm>
          <a:prstGeom prst="rect">
            <a:avLst/>
          </a:prstGeom>
          <a:noFill/>
          <a:ln/>
        </p:spPr>
        <p:txBody>
          <a:bodyPr wrap="square" lIns="0" tIns="0" rIns="0" bIns="0" rtlCol="0" anchor="t"/>
          <a:lstStyle/>
          <a:p>
            <a:pPr indent="0" marL="0">
              <a:buNone/>
            </a:pPr>
            <a:r>
              <a:rPr lang="en-US" sz="900" dirty="0">
                <a:solidFill>
                  <a:srgbClr val="B8C4D5"/>
                </a:solidFill>
                <a:latin typeface="Aptos" pitchFamily="34" charset="0"/>
                <a:ea typeface="Aptos" pitchFamily="34" charset="-122"/>
                <a:cs typeface="Aptos" pitchFamily="34" charset="-120"/>
              </a:rPr>
              <a:t>Alti adet labeled benchmark senaryosu uretildi: latency spike, error burst, traffic drop, seasonal spike, resource step-up ve subtle level shift.</a:t>
            </a:r>
            <a:endParaRPr lang="en-US" sz="900" dirty="0"/>
          </a:p>
        </p:txBody>
      </p:sp>
      <p:sp>
        <p:nvSpPr>
          <p:cNvPr id="13" name="Shape 11"/>
          <p:cNvSpPr/>
          <p:nvPr/>
        </p:nvSpPr>
        <p:spPr>
          <a:xfrm>
            <a:off x="3273552" y="1417320"/>
            <a:ext cx="2560320" cy="914400"/>
          </a:xfrm>
          <a:prstGeom prst="roundRect">
            <a:avLst>
              <a:gd name="adj" fmla="val 8000"/>
            </a:avLst>
          </a:prstGeom>
          <a:solidFill>
            <a:srgbClr val="122038"/>
          </a:solidFill>
          <a:ln w="12700">
            <a:solidFill>
              <a:srgbClr val="22314B"/>
            </a:solidFill>
            <a:prstDash val="solid"/>
          </a:ln>
          <a:effectLst>
            <a:outerShdw sx="100000" sy="100000" kx="0" ky="0" algn="bl" rotWithShape="0" blurRad="25400" dist="12700" dir="2700000">
              <a:srgbClr val="000000">
                <a:alpha val="20000"/>
              </a:srgbClr>
            </a:outerShdw>
          </a:effectLst>
        </p:spPr>
      </p:sp>
      <p:sp>
        <p:nvSpPr>
          <p:cNvPr id="14" name="Shape 12"/>
          <p:cNvSpPr/>
          <p:nvPr/>
        </p:nvSpPr>
        <p:spPr>
          <a:xfrm>
            <a:off x="3419856" y="1563624"/>
            <a:ext cx="73152" cy="621792"/>
          </a:xfrm>
          <a:prstGeom prst="roundRect">
            <a:avLst>
              <a:gd name="adj" fmla="val 25000"/>
            </a:avLst>
          </a:prstGeom>
          <a:solidFill>
            <a:srgbClr val="38BDF8"/>
          </a:solidFill>
          <a:ln w="12700">
            <a:solidFill>
              <a:srgbClr val="38BDF8">
                <a:alpha val="0"/>
              </a:srgbClr>
            </a:solidFill>
            <a:prstDash val="solid"/>
          </a:ln>
        </p:spPr>
      </p:sp>
      <p:sp>
        <p:nvSpPr>
          <p:cNvPr id="15" name="Text 13"/>
          <p:cNvSpPr/>
          <p:nvPr/>
        </p:nvSpPr>
        <p:spPr>
          <a:xfrm>
            <a:off x="3566160" y="1563624"/>
            <a:ext cx="2121408" cy="201168"/>
          </a:xfrm>
          <a:prstGeom prst="rect">
            <a:avLst/>
          </a:prstGeom>
          <a:noFill/>
          <a:ln/>
        </p:spPr>
        <p:txBody>
          <a:bodyPr wrap="square" lIns="0" tIns="0" rIns="0" bIns="0" rtlCol="0" anchor="ctr"/>
          <a:lstStyle/>
          <a:p>
            <a:pPr indent="0" marL="0">
              <a:buNone/>
            </a:pPr>
            <a:r>
              <a:rPr lang="en-US" sz="1100" b="1" dirty="0">
                <a:solidFill>
                  <a:srgbClr val="F7FAFC"/>
                </a:solidFill>
                <a:latin typeface="Aptos" pitchFamily="34" charset="0"/>
                <a:ea typeface="Aptos" pitchFamily="34" charset="-122"/>
                <a:cs typeface="Aptos" pitchFamily="34" charset="-120"/>
              </a:rPr>
              <a:t>2. Bizim detector</a:t>
            </a:r>
            <a:endParaRPr lang="en-US" sz="1100" dirty="0"/>
          </a:p>
        </p:txBody>
      </p:sp>
      <p:sp>
        <p:nvSpPr>
          <p:cNvPr id="16" name="Text 14"/>
          <p:cNvSpPr/>
          <p:nvPr/>
        </p:nvSpPr>
        <p:spPr>
          <a:xfrm>
            <a:off x="3566160" y="1801368"/>
            <a:ext cx="2121408" cy="420624"/>
          </a:xfrm>
          <a:prstGeom prst="rect">
            <a:avLst/>
          </a:prstGeom>
          <a:noFill/>
          <a:ln/>
        </p:spPr>
        <p:txBody>
          <a:bodyPr wrap="square" lIns="0" tIns="0" rIns="0" bIns="0" rtlCol="0" anchor="t"/>
          <a:lstStyle/>
          <a:p>
            <a:pPr indent="0" marL="0">
              <a:buNone/>
            </a:pPr>
            <a:r>
              <a:rPr lang="en-US" sz="900" dirty="0">
                <a:solidFill>
                  <a:srgbClr val="B8C4D5"/>
                </a:solidFill>
                <a:latin typeface="Aptos" pitchFamily="34" charset="0"/>
                <a:ea typeface="Aptos" pitchFamily="34" charset="-122"/>
                <a:cs typeface="Aptos" pitchFamily="34" charset="-120"/>
              </a:rPr>
              <a:t>Grafana panel ve exporter final runtime ayarlari ile ayni senaryolar tekrar kosuldu ve precision / recall / F1 olculdu.</a:t>
            </a:r>
            <a:endParaRPr lang="en-US" sz="900" dirty="0"/>
          </a:p>
        </p:txBody>
      </p:sp>
      <p:sp>
        <p:nvSpPr>
          <p:cNvPr id="17" name="Shape 15"/>
          <p:cNvSpPr/>
          <p:nvPr/>
        </p:nvSpPr>
        <p:spPr>
          <a:xfrm>
            <a:off x="5925312" y="1417320"/>
            <a:ext cx="2560320" cy="914400"/>
          </a:xfrm>
          <a:prstGeom prst="roundRect">
            <a:avLst>
              <a:gd name="adj" fmla="val 8000"/>
            </a:avLst>
          </a:prstGeom>
          <a:solidFill>
            <a:srgbClr val="122038"/>
          </a:solidFill>
          <a:ln w="12700">
            <a:solidFill>
              <a:srgbClr val="22314B"/>
            </a:solidFill>
            <a:prstDash val="solid"/>
          </a:ln>
          <a:effectLst>
            <a:outerShdw sx="100000" sy="100000" kx="0" ky="0" algn="bl" rotWithShape="0" blurRad="25400" dist="12700" dir="2700000">
              <a:srgbClr val="000000">
                <a:alpha val="20000"/>
              </a:srgbClr>
            </a:outerShdw>
          </a:effectLst>
        </p:spPr>
      </p:sp>
      <p:sp>
        <p:nvSpPr>
          <p:cNvPr id="18" name="Shape 16"/>
          <p:cNvSpPr/>
          <p:nvPr/>
        </p:nvSpPr>
        <p:spPr>
          <a:xfrm>
            <a:off x="6071616" y="1563624"/>
            <a:ext cx="73152" cy="621792"/>
          </a:xfrm>
          <a:prstGeom prst="roundRect">
            <a:avLst>
              <a:gd name="adj" fmla="val 25000"/>
            </a:avLst>
          </a:prstGeom>
          <a:solidFill>
            <a:srgbClr val="22C55E"/>
          </a:solidFill>
          <a:ln w="12700">
            <a:solidFill>
              <a:srgbClr val="22C55E">
                <a:alpha val="0"/>
              </a:srgbClr>
            </a:solidFill>
            <a:prstDash val="solid"/>
          </a:ln>
        </p:spPr>
      </p:sp>
      <p:sp>
        <p:nvSpPr>
          <p:cNvPr id="19" name="Text 17"/>
          <p:cNvSpPr/>
          <p:nvPr/>
        </p:nvSpPr>
        <p:spPr>
          <a:xfrm>
            <a:off x="6217920" y="1563624"/>
            <a:ext cx="2121408" cy="201168"/>
          </a:xfrm>
          <a:prstGeom prst="rect">
            <a:avLst/>
          </a:prstGeom>
          <a:noFill/>
          <a:ln/>
        </p:spPr>
        <p:txBody>
          <a:bodyPr wrap="square" lIns="0" tIns="0" rIns="0" bIns="0" rtlCol="0" anchor="ctr"/>
          <a:lstStyle/>
          <a:p>
            <a:pPr indent="0" marL="0">
              <a:buNone/>
            </a:pPr>
            <a:r>
              <a:rPr lang="en-US" sz="1100" b="1" dirty="0">
                <a:solidFill>
                  <a:srgbClr val="F7FAFC"/>
                </a:solidFill>
                <a:latin typeface="Aptos" pitchFamily="34" charset="0"/>
                <a:ea typeface="Aptos" pitchFamily="34" charset="-122"/>
                <a:cs typeface="Aptos" pitchFamily="34" charset="-120"/>
              </a:rPr>
              <a:t>3. Elastic ML</a:t>
            </a:r>
            <a:endParaRPr lang="en-US" sz="1100" dirty="0"/>
          </a:p>
        </p:txBody>
      </p:sp>
      <p:sp>
        <p:nvSpPr>
          <p:cNvPr id="20" name="Text 18"/>
          <p:cNvSpPr/>
          <p:nvPr/>
        </p:nvSpPr>
        <p:spPr>
          <a:xfrm>
            <a:off x="6217920" y="1801368"/>
            <a:ext cx="2121408" cy="420624"/>
          </a:xfrm>
          <a:prstGeom prst="rect">
            <a:avLst/>
          </a:prstGeom>
          <a:noFill/>
          <a:ln/>
        </p:spPr>
        <p:txBody>
          <a:bodyPr wrap="square" lIns="0" tIns="0" rIns="0" bIns="0" rtlCol="0" anchor="t"/>
          <a:lstStyle/>
          <a:p>
            <a:pPr indent="0" marL="0">
              <a:buNone/>
            </a:pPr>
            <a:r>
              <a:rPr lang="en-US" sz="900" dirty="0">
                <a:solidFill>
                  <a:srgbClr val="B8C4D5"/>
                </a:solidFill>
                <a:latin typeface="Aptos" pitchFamily="34" charset="0"/>
                <a:ea typeface="Aptos" pitchFamily="34" charset="-122"/>
                <a:cs typeface="Aptos" pitchFamily="34" charset="-120"/>
              </a:rPr>
              <a:t>Ayni veri local Elastic trial runtime'a yuklendi. Gercek record export'u alinip threshold sweep yapildi.</a:t>
            </a:r>
            <a:endParaRPr lang="en-US" sz="900" dirty="0"/>
          </a:p>
        </p:txBody>
      </p:sp>
      <p:sp>
        <p:nvSpPr>
          <p:cNvPr id="21" name="Shape 19"/>
          <p:cNvSpPr/>
          <p:nvPr/>
        </p:nvSpPr>
        <p:spPr>
          <a:xfrm>
            <a:off x="8577072" y="1417320"/>
            <a:ext cx="2697480" cy="914400"/>
          </a:xfrm>
          <a:prstGeom prst="roundRect">
            <a:avLst>
              <a:gd name="adj" fmla="val 8000"/>
            </a:avLst>
          </a:prstGeom>
          <a:solidFill>
            <a:srgbClr val="122038"/>
          </a:solidFill>
          <a:ln w="12700">
            <a:solidFill>
              <a:srgbClr val="22314B"/>
            </a:solidFill>
            <a:prstDash val="solid"/>
          </a:ln>
          <a:effectLst>
            <a:outerShdw sx="100000" sy="100000" kx="0" ky="0" algn="bl" rotWithShape="0" blurRad="25400" dist="12700" dir="2700000">
              <a:srgbClr val="000000">
                <a:alpha val="20000"/>
              </a:srgbClr>
            </a:outerShdw>
          </a:effectLst>
        </p:spPr>
      </p:sp>
      <p:sp>
        <p:nvSpPr>
          <p:cNvPr id="22" name="Shape 20"/>
          <p:cNvSpPr/>
          <p:nvPr/>
        </p:nvSpPr>
        <p:spPr>
          <a:xfrm>
            <a:off x="8723376" y="1563624"/>
            <a:ext cx="73152" cy="621792"/>
          </a:xfrm>
          <a:prstGeom prst="roundRect">
            <a:avLst>
              <a:gd name="adj" fmla="val 25000"/>
            </a:avLst>
          </a:prstGeom>
          <a:solidFill>
            <a:srgbClr val="F59E0B"/>
          </a:solidFill>
          <a:ln w="12700">
            <a:solidFill>
              <a:srgbClr val="F59E0B">
                <a:alpha val="0"/>
              </a:srgbClr>
            </a:solidFill>
            <a:prstDash val="solid"/>
          </a:ln>
        </p:spPr>
      </p:sp>
      <p:sp>
        <p:nvSpPr>
          <p:cNvPr id="23" name="Text 21"/>
          <p:cNvSpPr/>
          <p:nvPr/>
        </p:nvSpPr>
        <p:spPr>
          <a:xfrm>
            <a:off x="8869680" y="1563624"/>
            <a:ext cx="2258568" cy="201168"/>
          </a:xfrm>
          <a:prstGeom prst="rect">
            <a:avLst/>
          </a:prstGeom>
          <a:noFill/>
          <a:ln/>
        </p:spPr>
        <p:txBody>
          <a:bodyPr wrap="square" lIns="0" tIns="0" rIns="0" bIns="0" rtlCol="0" anchor="ctr"/>
          <a:lstStyle/>
          <a:p>
            <a:pPr indent="0" marL="0">
              <a:buNone/>
            </a:pPr>
            <a:r>
              <a:rPr lang="en-US" sz="1100" b="1" dirty="0">
                <a:solidFill>
                  <a:srgbClr val="F7FAFC"/>
                </a:solidFill>
                <a:latin typeface="Aptos" pitchFamily="34" charset="0"/>
                <a:ea typeface="Aptos" pitchFamily="34" charset="-122"/>
                <a:cs typeface="Aptos" pitchFamily="34" charset="-120"/>
              </a:rPr>
              <a:t>4. Karsilastirma</a:t>
            </a:r>
            <a:endParaRPr lang="en-US" sz="1100" dirty="0"/>
          </a:p>
        </p:txBody>
      </p:sp>
      <p:sp>
        <p:nvSpPr>
          <p:cNvPr id="24" name="Text 22"/>
          <p:cNvSpPr/>
          <p:nvPr/>
        </p:nvSpPr>
        <p:spPr>
          <a:xfrm>
            <a:off x="8869680" y="1801368"/>
            <a:ext cx="2258568" cy="420624"/>
          </a:xfrm>
          <a:prstGeom prst="rect">
            <a:avLst/>
          </a:prstGeom>
          <a:noFill/>
          <a:ln/>
        </p:spPr>
        <p:txBody>
          <a:bodyPr wrap="square" lIns="0" tIns="0" rIns="0" bIns="0" rtlCol="0" anchor="t"/>
          <a:lstStyle/>
          <a:p>
            <a:pPr indent="0" marL="0">
              <a:buNone/>
            </a:pPr>
            <a:r>
              <a:rPr lang="en-US" sz="900" dirty="0">
                <a:solidFill>
                  <a:srgbClr val="B8C4D5"/>
                </a:solidFill>
                <a:latin typeface="Aptos" pitchFamily="34" charset="0"/>
                <a:ea typeface="Aptos" pitchFamily="34" charset="-122"/>
                <a:cs typeface="Aptos" pitchFamily="34" charset="-120"/>
              </a:rPr>
              <a:t>Sayisal metrikler ve davranis grafigi ayni raporda birlestirildi. Boylece 'kim daha yakin' sorusu gorsel olarak da cevaplandi.</a:t>
            </a:r>
            <a:endParaRPr lang="en-US" sz="900" dirty="0"/>
          </a:p>
        </p:txBody>
      </p:sp>
      <p:sp>
        <p:nvSpPr>
          <p:cNvPr id="25" name="Shape 23"/>
          <p:cNvSpPr/>
          <p:nvPr/>
        </p:nvSpPr>
        <p:spPr>
          <a:xfrm>
            <a:off x="621792" y="2743200"/>
            <a:ext cx="5285232" cy="2834640"/>
          </a:xfrm>
          <a:prstGeom prst="roundRect">
            <a:avLst>
              <a:gd name="adj" fmla="val 2581"/>
            </a:avLst>
          </a:prstGeom>
          <a:solidFill>
            <a:srgbClr val="122038"/>
          </a:solidFill>
          <a:ln w="12700">
            <a:solidFill>
              <a:srgbClr val="22314B"/>
            </a:solidFill>
            <a:prstDash val="solid"/>
          </a:ln>
          <a:effectLst>
            <a:outerShdw sx="100000" sy="100000" kx="0" ky="0" algn="bl" rotWithShape="0" blurRad="25400" dist="12700" dir="2700000">
              <a:srgbClr val="000000">
                <a:alpha val="20000"/>
              </a:srgbClr>
            </a:outerShdw>
          </a:effectLst>
        </p:spPr>
      </p:sp>
      <p:sp>
        <p:nvSpPr>
          <p:cNvPr id="26" name="Shape 24"/>
          <p:cNvSpPr/>
          <p:nvPr/>
        </p:nvSpPr>
        <p:spPr>
          <a:xfrm>
            <a:off x="768096" y="2889504"/>
            <a:ext cx="73152" cy="2542032"/>
          </a:xfrm>
          <a:prstGeom prst="roundRect">
            <a:avLst>
              <a:gd name="adj" fmla="val 25000"/>
            </a:avLst>
          </a:prstGeom>
          <a:solidFill>
            <a:srgbClr val="F97316"/>
          </a:solidFill>
          <a:ln w="12700">
            <a:solidFill>
              <a:srgbClr val="F97316">
                <a:alpha val="0"/>
              </a:srgbClr>
            </a:solidFill>
            <a:prstDash val="solid"/>
          </a:ln>
        </p:spPr>
      </p:sp>
      <p:sp>
        <p:nvSpPr>
          <p:cNvPr id="27" name="Text 25"/>
          <p:cNvSpPr/>
          <p:nvPr/>
        </p:nvSpPr>
        <p:spPr>
          <a:xfrm>
            <a:off x="914400" y="2889504"/>
            <a:ext cx="4846320" cy="201168"/>
          </a:xfrm>
          <a:prstGeom prst="rect">
            <a:avLst/>
          </a:prstGeom>
          <a:noFill/>
          <a:ln/>
        </p:spPr>
        <p:txBody>
          <a:bodyPr wrap="square" lIns="0" tIns="0" rIns="0" bIns="0" rtlCol="0" anchor="ctr"/>
          <a:lstStyle/>
          <a:p>
            <a:pPr indent="0" marL="0">
              <a:buNone/>
            </a:pPr>
            <a:r>
              <a:rPr lang="en-US" sz="1100" b="1" dirty="0">
                <a:solidFill>
                  <a:srgbClr val="F7FAFC"/>
                </a:solidFill>
                <a:latin typeface="Aptos" pitchFamily="34" charset="0"/>
                <a:ea typeface="Aptos" pitchFamily="34" charset="-122"/>
                <a:cs typeface="Aptos" pitchFamily="34" charset="-120"/>
              </a:rPr>
              <a:t>Neden guvenilir benchmark?</a:t>
            </a:r>
            <a:endParaRPr lang="en-US" sz="1100" dirty="0"/>
          </a:p>
        </p:txBody>
      </p:sp>
      <p:sp>
        <p:nvSpPr>
          <p:cNvPr id="28" name="Text 26"/>
          <p:cNvSpPr/>
          <p:nvPr/>
        </p:nvSpPr>
        <p:spPr>
          <a:xfrm>
            <a:off x="914400" y="3127248"/>
            <a:ext cx="4846320" cy="2340864"/>
          </a:xfrm>
          <a:prstGeom prst="rect">
            <a:avLst/>
          </a:prstGeom>
          <a:noFill/>
          <a:ln/>
        </p:spPr>
        <p:txBody>
          <a:bodyPr wrap="square" lIns="0" tIns="0" rIns="0" bIns="0" rtlCol="0" anchor="t"/>
          <a:lstStyle/>
          <a:p>
            <a:pPr indent="0" marL="0">
              <a:buNone/>
            </a:pPr>
            <a:r>
              <a:rPr lang="en-US" sz="900" dirty="0">
                <a:solidFill>
                  <a:srgbClr val="B8C4D5"/>
                </a:solidFill>
                <a:latin typeface="Aptos" pitchFamily="34" charset="0"/>
                <a:ea typeface="Aptos" pitchFamily="34" charset="-122"/>
                <a:cs typeface="Aptos" pitchFamily="34" charset="-120"/>
              </a:rPr>
              <a:t>Iki tarafa da ayni senaryo ailesi, ayni zaman serisi ve ayni anomaly etiketleri uygulandi. Bu sayede sonucta veri farki degil, detector davranisi olculmus oldu. Ayni benchmark raporunda hem sayisal metrik hem de gorsel davranis birlikte tutuldu.</a:t>
            </a:r>
            <a:endParaRPr lang="en-US" sz="900" dirty="0"/>
          </a:p>
        </p:txBody>
      </p:sp>
      <p:sp>
        <p:nvSpPr>
          <p:cNvPr id="29" name="Shape 27"/>
          <p:cNvSpPr/>
          <p:nvPr/>
        </p:nvSpPr>
        <p:spPr>
          <a:xfrm>
            <a:off x="6144768" y="2743200"/>
            <a:ext cx="5449824" cy="2834640"/>
          </a:xfrm>
          <a:prstGeom prst="roundRect">
            <a:avLst>
              <a:gd name="adj" fmla="val 2581"/>
            </a:avLst>
          </a:prstGeom>
          <a:solidFill>
            <a:srgbClr val="122038"/>
          </a:solidFill>
          <a:ln w="12700">
            <a:solidFill>
              <a:srgbClr val="22314B"/>
            </a:solidFill>
            <a:prstDash val="solid"/>
          </a:ln>
          <a:effectLst>
            <a:outerShdw sx="100000" sy="100000" kx="0" ky="0" algn="bl" rotWithShape="0" blurRad="25400" dist="12700" dir="2700000">
              <a:srgbClr val="000000">
                <a:alpha val="20000"/>
              </a:srgbClr>
            </a:outerShdw>
          </a:effectLst>
        </p:spPr>
      </p:sp>
      <p:sp>
        <p:nvSpPr>
          <p:cNvPr id="30" name="Shape 28"/>
          <p:cNvSpPr/>
          <p:nvPr/>
        </p:nvSpPr>
        <p:spPr>
          <a:xfrm>
            <a:off x="6291072" y="2889504"/>
            <a:ext cx="73152" cy="2542032"/>
          </a:xfrm>
          <a:prstGeom prst="roundRect">
            <a:avLst>
              <a:gd name="adj" fmla="val 25000"/>
            </a:avLst>
          </a:prstGeom>
          <a:solidFill>
            <a:srgbClr val="38BDF8"/>
          </a:solidFill>
          <a:ln w="12700">
            <a:solidFill>
              <a:srgbClr val="38BDF8">
                <a:alpha val="0"/>
              </a:srgbClr>
            </a:solidFill>
            <a:prstDash val="solid"/>
          </a:ln>
        </p:spPr>
      </p:sp>
      <p:sp>
        <p:nvSpPr>
          <p:cNvPr id="31" name="Text 29"/>
          <p:cNvSpPr/>
          <p:nvPr/>
        </p:nvSpPr>
        <p:spPr>
          <a:xfrm>
            <a:off x="6437376" y="2889504"/>
            <a:ext cx="5010912" cy="201168"/>
          </a:xfrm>
          <a:prstGeom prst="rect">
            <a:avLst/>
          </a:prstGeom>
          <a:noFill/>
          <a:ln/>
        </p:spPr>
        <p:txBody>
          <a:bodyPr wrap="square" lIns="0" tIns="0" rIns="0" bIns="0" rtlCol="0" anchor="ctr"/>
          <a:lstStyle/>
          <a:p>
            <a:pPr indent="0" marL="0">
              <a:buNone/>
            </a:pPr>
            <a:r>
              <a:rPr lang="en-US" sz="1100" b="1" dirty="0">
                <a:solidFill>
                  <a:srgbClr val="F7FAFC"/>
                </a:solidFill>
                <a:latin typeface="Aptos" pitchFamily="34" charset="0"/>
                <a:ea typeface="Aptos" pitchFamily="34" charset="-122"/>
                <a:cs typeface="Aptos" pitchFamily="34" charset="-120"/>
              </a:rPr>
              <a:t>Elastic kosu ayrintisi</a:t>
            </a:r>
            <a:endParaRPr lang="en-US" sz="1100" dirty="0"/>
          </a:p>
        </p:txBody>
      </p:sp>
      <p:sp>
        <p:nvSpPr>
          <p:cNvPr id="32" name="Text 30"/>
          <p:cNvSpPr/>
          <p:nvPr/>
        </p:nvSpPr>
        <p:spPr>
          <a:xfrm>
            <a:off x="6437376" y="3127248"/>
            <a:ext cx="5010912" cy="2340864"/>
          </a:xfrm>
          <a:prstGeom prst="rect">
            <a:avLst/>
          </a:prstGeom>
          <a:noFill/>
          <a:ln/>
        </p:spPr>
        <p:txBody>
          <a:bodyPr wrap="square" lIns="0" tIns="0" rIns="0" bIns="0" rtlCol="0" anchor="t"/>
          <a:lstStyle/>
          <a:p>
            <a:pPr indent="0" marL="0">
              <a:buNone/>
            </a:pPr>
            <a:r>
              <a:rPr lang="en-US" sz="900" dirty="0">
                <a:solidFill>
                  <a:srgbClr val="B8C4D5"/>
                </a:solidFill>
                <a:latin typeface="Aptos" pitchFamily="34" charset="0"/>
                <a:ea typeface="Aptos" pitchFamily="34" charset="-122"/>
                <a:cs typeface="Aptos" pitchFamily="34" charset="-120"/>
              </a:rPr>
              <a:t>Elastic tarafi local trial runtime uzerinde gercek ML job olarak kosuldu. Record export'u alinip threshold sweep 1.0 ile 75.0 arasinda yapildi. Boylece 'varsayilan threshold' degil, Elastic'in bu dataset icin bulabildigi en iyi nokta da olculmus oldu.</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8111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8111F"/>
          </a:solidFill>
          <a:ln w="12700">
            <a:solidFill>
              <a:srgbClr val="08111F">
                <a:alpha val="0"/>
              </a:srgbClr>
            </a:solidFill>
            <a:prstDash val="solid"/>
          </a:ln>
        </p:spPr>
      </p:sp>
      <p:sp>
        <p:nvSpPr>
          <p:cNvPr id="3" name="Shape 1"/>
          <p:cNvSpPr/>
          <p:nvPr/>
        </p:nvSpPr>
        <p:spPr>
          <a:xfrm>
            <a:off x="502920" y="292608"/>
            <a:ext cx="11183112" cy="27432"/>
          </a:xfrm>
          <a:prstGeom prst="rect">
            <a:avLst/>
          </a:prstGeom>
          <a:solidFill>
            <a:srgbClr val="F97316"/>
          </a:solidFill>
          <a:ln w="12700">
            <a:solidFill>
              <a:srgbClr val="F97316">
                <a:alpha val="0"/>
              </a:srgbClr>
            </a:solidFill>
            <a:prstDash val="solid"/>
          </a:ln>
        </p:spPr>
      </p:sp>
      <p:sp>
        <p:nvSpPr>
          <p:cNvPr id="4" name="Text 2"/>
          <p:cNvSpPr/>
          <p:nvPr/>
        </p:nvSpPr>
        <p:spPr>
          <a:xfrm>
            <a:off x="566928" y="109728"/>
            <a:ext cx="4389120" cy="164592"/>
          </a:xfrm>
          <a:prstGeom prst="rect">
            <a:avLst/>
          </a:prstGeom>
          <a:noFill/>
          <a:ln/>
        </p:spPr>
        <p:txBody>
          <a:bodyPr wrap="square" lIns="0" tIns="0" rIns="0" bIns="0" rtlCol="0" anchor="ctr"/>
          <a:lstStyle/>
          <a:p>
            <a:pPr indent="0" marL="0">
              <a:buNone/>
            </a:pPr>
            <a:r>
              <a:rPr lang="en-US" sz="1000" b="1" dirty="0">
                <a:solidFill>
                  <a:srgbClr val="F97316"/>
                </a:solidFill>
                <a:latin typeface="Aptos" pitchFamily="34" charset="0"/>
                <a:ea typeface="Aptos" pitchFamily="34" charset="-122"/>
                <a:cs typeface="Aptos" pitchFamily="34" charset="-120"/>
              </a:rPr>
              <a:t>GORSEL KANIT</a:t>
            </a:r>
            <a:endParaRPr lang="en-US" sz="1000" dirty="0"/>
          </a:p>
        </p:txBody>
      </p:sp>
      <p:sp>
        <p:nvSpPr>
          <p:cNvPr id="5" name="Text 3"/>
          <p:cNvSpPr/>
          <p:nvPr/>
        </p:nvSpPr>
        <p:spPr>
          <a:xfrm>
            <a:off x="566928" y="438912"/>
            <a:ext cx="6583680" cy="310896"/>
          </a:xfrm>
          <a:prstGeom prst="rect">
            <a:avLst/>
          </a:prstGeom>
          <a:noFill/>
          <a:ln/>
        </p:spPr>
        <p:txBody>
          <a:bodyPr wrap="square" lIns="0" tIns="0" rIns="0" bIns="0" rtlCol="0" anchor="ctr"/>
          <a:lstStyle/>
          <a:p>
            <a:pPr indent="0" marL="0">
              <a:buNone/>
            </a:pPr>
            <a:r>
              <a:rPr lang="en-US" sz="2400" b="1" dirty="0">
                <a:solidFill>
                  <a:srgbClr val="F7FAFC"/>
                </a:solidFill>
                <a:latin typeface="Aptos Display" pitchFamily="34" charset="0"/>
                <a:ea typeface="Aptos Display" pitchFamily="34" charset="-122"/>
                <a:cs typeface="Aptos Display" pitchFamily="34" charset="-120"/>
              </a:rPr>
              <a:t>Ayni dataset uzerinde 1-1 sistem karsilastirmasi</a:t>
            </a:r>
            <a:endParaRPr lang="en-US" sz="2400" dirty="0"/>
          </a:p>
        </p:txBody>
      </p:sp>
      <p:sp>
        <p:nvSpPr>
          <p:cNvPr id="6" name="Text 4"/>
          <p:cNvSpPr/>
          <p:nvPr/>
        </p:nvSpPr>
        <p:spPr>
          <a:xfrm>
            <a:off x="566928" y="822960"/>
            <a:ext cx="8046720" cy="292608"/>
          </a:xfrm>
          <a:prstGeom prst="rect">
            <a:avLst/>
          </a:prstGeom>
          <a:noFill/>
          <a:ln/>
        </p:spPr>
        <p:txBody>
          <a:bodyPr wrap="square" lIns="0" tIns="0" rIns="0" bIns="0" rtlCol="0" anchor="ctr"/>
          <a:lstStyle/>
          <a:p>
            <a:pPr indent="0" marL="0">
              <a:buNone/>
            </a:pPr>
            <a:r>
              <a:rPr lang="en-US" sz="1100" dirty="0">
                <a:solidFill>
                  <a:srgbClr val="B8C4D5"/>
                </a:solidFill>
                <a:latin typeface="Aptos" pitchFamily="34" charset="0"/>
                <a:ea typeface="Aptos" pitchFamily="34" charset="-122"/>
                <a:cs typeface="Aptos" pitchFamily="34" charset="-120"/>
              </a:rPr>
              <a:t>Her satirda ayni benchmark senaryosu icin gercek Grafana paneli ve gercek Elastic ML ekran goruntusu birlikte okunur.</a:t>
            </a:r>
            <a:endParaRPr lang="en-US" sz="1100" dirty="0"/>
          </a:p>
        </p:txBody>
      </p:sp>
      <p:sp>
        <p:nvSpPr>
          <p:cNvPr id="7" name="Text 5"/>
          <p:cNvSpPr/>
          <p:nvPr/>
        </p:nvSpPr>
        <p:spPr>
          <a:xfrm>
            <a:off x="566928" y="6510528"/>
            <a:ext cx="5120640" cy="146304"/>
          </a:xfrm>
          <a:prstGeom prst="rect">
            <a:avLst/>
          </a:prstGeom>
          <a:noFill/>
          <a:ln/>
        </p:spPr>
        <p:txBody>
          <a:bodyPr wrap="square" lIns="0" tIns="0" rIns="0" bIns="0" rtlCol="0" anchor="ctr"/>
          <a:lstStyle/>
          <a:p>
            <a:pPr indent="0" marL="0">
              <a:buNone/>
            </a:pPr>
            <a:r>
              <a:rPr lang="en-US" sz="800" dirty="0">
                <a:solidFill>
                  <a:srgbClr val="7D8CA2"/>
                </a:solidFill>
                <a:latin typeface="Aptos" pitchFamily="34" charset="0"/>
                <a:ea typeface="Aptos" pitchFamily="34" charset="-122"/>
                <a:cs typeface="Aptos" pitchFamily="34" charset="-120"/>
              </a:rPr>
              <a:t>Grafana Anomaly Detector | Final benchmark revizyonu</a:t>
            </a:r>
            <a:endParaRPr lang="en-US" sz="800" dirty="0"/>
          </a:p>
        </p:txBody>
      </p:sp>
      <p:sp>
        <p:nvSpPr>
          <p:cNvPr id="8" name="Text 6"/>
          <p:cNvSpPr/>
          <p:nvPr/>
        </p:nvSpPr>
        <p:spPr>
          <a:xfrm>
            <a:off x="11247120" y="6473952"/>
            <a:ext cx="365760" cy="182880"/>
          </a:xfrm>
          <a:prstGeom prst="rect">
            <a:avLst/>
          </a:prstGeom>
          <a:noFill/>
          <a:ln/>
        </p:spPr>
        <p:txBody>
          <a:bodyPr wrap="square" lIns="0" tIns="0" rIns="0" bIns="0" rtlCol="0" anchor="ctr"/>
          <a:lstStyle/>
          <a:p>
            <a:pPr algn="r" indent="0" marL="0">
              <a:buNone/>
            </a:pPr>
            <a:r>
              <a:rPr lang="en-US" sz="800" dirty="0">
                <a:solidFill>
                  <a:srgbClr val="7D8CA2"/>
                </a:solidFill>
                <a:latin typeface="Aptos" pitchFamily="34" charset="0"/>
                <a:ea typeface="Aptos" pitchFamily="34" charset="-122"/>
                <a:cs typeface="Aptos" pitchFamily="34" charset="-120"/>
              </a:rPr>
              <a:t>5</a:t>
            </a:r>
            <a:endParaRPr lang="en-US" sz="800" dirty="0"/>
          </a:p>
        </p:txBody>
      </p:sp>
      <p:sp>
        <p:nvSpPr>
          <p:cNvPr id="9" name="Text 7"/>
          <p:cNvSpPr/>
          <p:nvPr/>
        </p:nvSpPr>
        <p:spPr>
          <a:xfrm>
            <a:off x="768096" y="1344168"/>
            <a:ext cx="1417320" cy="274320"/>
          </a:xfrm>
          <a:prstGeom prst="rect">
            <a:avLst/>
          </a:prstGeom>
          <a:solidFill>
            <a:srgbClr val="F97316">
              <a:alpha val="20000"/>
            </a:srgbClr>
          </a:solidFill>
          <a:ln>
            <a:solidFill>
              <a:srgbClr val="F97316">
                <a:alpha val="0"/>
              </a:srgbClr>
            </a:solidFill>
          </a:ln>
        </p:spPr>
        <p:txBody>
          <a:bodyPr wrap="square" lIns="0" tIns="0" rIns="0" bIns="0" rtlCol="0" anchor="ctr"/>
          <a:lstStyle/>
          <a:p>
            <a:pPr algn="ctr" indent="0" marL="0">
              <a:buNone/>
            </a:pPr>
            <a:r>
              <a:rPr lang="en-US" sz="800" b="1" dirty="0">
                <a:solidFill>
                  <a:srgbClr val="F7FAFC"/>
                </a:solidFill>
                <a:latin typeface="Aptos" pitchFamily="34" charset="0"/>
                <a:ea typeface="Aptos" pitchFamily="34" charset="-122"/>
                <a:cs typeface="Aptos" pitchFamily="34" charset="-120"/>
              </a:rPr>
              <a:t>LATENCY SPIKE</a:t>
            </a:r>
            <a:endParaRPr lang="en-US" sz="800" dirty="0"/>
          </a:p>
        </p:txBody>
      </p:sp>
      <p:sp>
        <p:nvSpPr>
          <p:cNvPr id="10" name="Shape 8"/>
          <p:cNvSpPr/>
          <p:nvPr/>
        </p:nvSpPr>
        <p:spPr>
          <a:xfrm>
            <a:off x="713232" y="1655064"/>
            <a:ext cx="3822192" cy="1901952"/>
          </a:xfrm>
          <a:prstGeom prst="roundRect">
            <a:avLst>
              <a:gd name="adj" fmla="val 3846"/>
            </a:avLst>
          </a:prstGeom>
          <a:solidFill>
            <a:srgbClr val="0F1A2B"/>
          </a:solidFill>
          <a:ln w="12700">
            <a:solidFill>
              <a:srgbClr val="22314B"/>
            </a:solidFill>
            <a:prstDash val="solid"/>
          </a:ln>
          <a:effectLst>
            <a:outerShdw sx="100000" sy="100000" kx="0" ky="0" algn="bl" rotWithShape="0" blurRad="25400" dist="12700" dir="2700000">
              <a:srgbClr val="000000">
                <a:alpha val="20000"/>
              </a:srgbClr>
            </a:outerShdw>
          </a:effectLst>
        </p:spPr>
      </p:sp>
      <p:sp>
        <p:nvSpPr>
          <p:cNvPr id="11" name="Text 9"/>
          <p:cNvSpPr/>
          <p:nvPr/>
        </p:nvSpPr>
        <p:spPr>
          <a:xfrm>
            <a:off x="896112" y="1801368"/>
            <a:ext cx="2194560" cy="164592"/>
          </a:xfrm>
          <a:prstGeom prst="rect">
            <a:avLst/>
          </a:prstGeom>
          <a:noFill/>
          <a:ln/>
        </p:spPr>
        <p:txBody>
          <a:bodyPr wrap="square" lIns="0" tIns="0" rIns="0" bIns="0" rtlCol="0" anchor="ctr"/>
          <a:lstStyle/>
          <a:p>
            <a:pPr indent="0" marL="0">
              <a:buNone/>
            </a:pPr>
            <a:r>
              <a:rPr lang="en-US" sz="1100" b="1" dirty="0">
                <a:solidFill>
                  <a:srgbClr val="F7FAFC"/>
                </a:solidFill>
                <a:latin typeface="Aptos" pitchFamily="34" charset="0"/>
                <a:ea typeface="Aptos" pitchFamily="34" charset="-122"/>
                <a:cs typeface="Aptos" pitchFamily="34" charset="-120"/>
              </a:rPr>
              <a:t>Grafana Anomaly Detector</a:t>
            </a:r>
            <a:endParaRPr lang="en-US" sz="1100" dirty="0"/>
          </a:p>
        </p:txBody>
      </p:sp>
      <p:sp>
        <p:nvSpPr>
          <p:cNvPr id="12" name="Text 10"/>
          <p:cNvSpPr/>
          <p:nvPr/>
        </p:nvSpPr>
        <p:spPr>
          <a:xfrm>
            <a:off x="3310128" y="1783080"/>
            <a:ext cx="987552" cy="219456"/>
          </a:xfrm>
          <a:prstGeom prst="rect">
            <a:avLst/>
          </a:prstGeom>
          <a:noFill/>
          <a:ln/>
        </p:spPr>
        <p:txBody>
          <a:bodyPr wrap="square" lIns="0" tIns="0" rIns="0" bIns="0" rtlCol="0" anchor="ctr"/>
          <a:lstStyle/>
          <a:p>
            <a:pPr algn="r" indent="0" marL="0">
              <a:buNone/>
            </a:pPr>
            <a:r>
              <a:rPr lang="en-US" sz="900" b="1" dirty="0">
                <a:solidFill>
                  <a:srgbClr val="22C55E"/>
                </a:solidFill>
                <a:latin typeface="Aptos" pitchFamily="34" charset="0"/>
                <a:ea typeface="Aptos" pitchFamily="34" charset="-122"/>
                <a:cs typeface="Aptos" pitchFamily="34" charset="-120"/>
              </a:rPr>
              <a:t>F1 1.00</a:t>
            </a:r>
            <a:endParaRPr lang="en-US" sz="900" dirty="0"/>
          </a:p>
        </p:txBody>
      </p:sp>
      <p:pic>
        <p:nvPicPr>
          <p:cNvPr id="13" name="Image 0" descr="C:\Users\alpas\Documents\CodexSample\grafana-anomaly-lab\benchmarks\presentation\assets\screenshots\grafana-latency-real.png">    </p:cNvPr>
          <p:cNvPicPr>
            <a:picLocks noChangeAspect="1"/>
          </p:cNvPicPr>
          <p:nvPr/>
        </p:nvPicPr>
        <p:blipFill>
          <a:blip r:embed="rId1"/>
          <a:stretch>
            <a:fillRect/>
          </a:stretch>
        </p:blipFill>
        <p:spPr>
          <a:xfrm>
            <a:off x="1482442" y="2039112"/>
            <a:ext cx="2283772" cy="1335024"/>
          </a:xfrm>
          <a:prstGeom prst="rect">
            <a:avLst/>
          </a:prstGeom>
        </p:spPr>
      </p:pic>
      <p:sp>
        <p:nvSpPr>
          <p:cNvPr id="14" name="Shape 11"/>
          <p:cNvSpPr/>
          <p:nvPr/>
        </p:nvSpPr>
        <p:spPr>
          <a:xfrm>
            <a:off x="4754880" y="1655064"/>
            <a:ext cx="3822192" cy="1901952"/>
          </a:xfrm>
          <a:prstGeom prst="roundRect">
            <a:avLst>
              <a:gd name="adj" fmla="val 3846"/>
            </a:avLst>
          </a:prstGeom>
          <a:solidFill>
            <a:srgbClr val="0F1A2B"/>
          </a:solidFill>
          <a:ln w="12700">
            <a:solidFill>
              <a:srgbClr val="22314B"/>
            </a:solidFill>
            <a:prstDash val="solid"/>
          </a:ln>
          <a:effectLst>
            <a:outerShdw sx="100000" sy="100000" kx="0" ky="0" algn="bl" rotWithShape="0" blurRad="25400" dist="12700" dir="2700000">
              <a:srgbClr val="000000">
                <a:alpha val="20000"/>
              </a:srgbClr>
            </a:outerShdw>
          </a:effectLst>
        </p:spPr>
      </p:sp>
      <p:sp>
        <p:nvSpPr>
          <p:cNvPr id="15" name="Text 12"/>
          <p:cNvSpPr/>
          <p:nvPr/>
        </p:nvSpPr>
        <p:spPr>
          <a:xfrm>
            <a:off x="4937760" y="1801368"/>
            <a:ext cx="1920240" cy="164592"/>
          </a:xfrm>
          <a:prstGeom prst="rect">
            <a:avLst/>
          </a:prstGeom>
          <a:noFill/>
          <a:ln/>
        </p:spPr>
        <p:txBody>
          <a:bodyPr wrap="square" lIns="0" tIns="0" rIns="0" bIns="0" rtlCol="0" anchor="ctr"/>
          <a:lstStyle/>
          <a:p>
            <a:pPr indent="0" marL="0">
              <a:buNone/>
            </a:pPr>
            <a:r>
              <a:rPr lang="en-US" sz="1100" b="1" dirty="0">
                <a:solidFill>
                  <a:srgbClr val="F7FAFC"/>
                </a:solidFill>
                <a:latin typeface="Aptos" pitchFamily="34" charset="0"/>
                <a:ea typeface="Aptos" pitchFamily="34" charset="-122"/>
                <a:cs typeface="Aptos" pitchFamily="34" charset="-120"/>
              </a:rPr>
              <a:t>Elastic ML</a:t>
            </a:r>
            <a:endParaRPr lang="en-US" sz="1100" dirty="0"/>
          </a:p>
        </p:txBody>
      </p:sp>
      <p:sp>
        <p:nvSpPr>
          <p:cNvPr id="16" name="Text 13"/>
          <p:cNvSpPr/>
          <p:nvPr/>
        </p:nvSpPr>
        <p:spPr>
          <a:xfrm>
            <a:off x="7296912" y="1783080"/>
            <a:ext cx="1097280" cy="219456"/>
          </a:xfrm>
          <a:prstGeom prst="rect">
            <a:avLst/>
          </a:prstGeom>
          <a:noFill/>
          <a:ln/>
        </p:spPr>
        <p:txBody>
          <a:bodyPr wrap="square" lIns="0" tIns="0" rIns="0" bIns="0" rtlCol="0" anchor="ctr"/>
          <a:lstStyle/>
          <a:p>
            <a:pPr algn="r" indent="0" marL="0">
              <a:buNone/>
            </a:pPr>
            <a:r>
              <a:rPr lang="en-US" sz="900" b="1" dirty="0">
                <a:solidFill>
                  <a:srgbClr val="F59E0B"/>
                </a:solidFill>
                <a:latin typeface="Aptos" pitchFamily="34" charset="0"/>
                <a:ea typeface="Aptos" pitchFamily="34" charset="-122"/>
                <a:cs typeface="Aptos" pitchFamily="34" charset="-120"/>
              </a:rPr>
              <a:t>F1 0.57</a:t>
            </a:r>
            <a:endParaRPr lang="en-US" sz="900" dirty="0"/>
          </a:p>
        </p:txBody>
      </p:sp>
      <p:pic>
        <p:nvPicPr>
          <p:cNvPr id="17" name="Image 1" descr="C:\Users\alpas\Documents\CodexSample\grafana-anomaly-lab\benchmarks\presentation\assets\screenshots\elastic-latency-real.png">    </p:cNvPr>
          <p:cNvPicPr>
            <a:picLocks noChangeAspect="1"/>
          </p:cNvPicPr>
          <p:nvPr/>
        </p:nvPicPr>
        <p:blipFill>
          <a:blip r:embed="rId2"/>
          <a:stretch>
            <a:fillRect/>
          </a:stretch>
        </p:blipFill>
        <p:spPr>
          <a:xfrm>
            <a:off x="5635545" y="2039112"/>
            <a:ext cx="2060862" cy="1335024"/>
          </a:xfrm>
          <a:prstGeom prst="rect">
            <a:avLst/>
          </a:prstGeom>
        </p:spPr>
      </p:pic>
      <p:sp>
        <p:nvSpPr>
          <p:cNvPr id="18" name="Shape 14"/>
          <p:cNvSpPr/>
          <p:nvPr/>
        </p:nvSpPr>
        <p:spPr>
          <a:xfrm>
            <a:off x="8796528" y="1655064"/>
            <a:ext cx="2770632" cy="1901952"/>
          </a:xfrm>
          <a:prstGeom prst="roundRect">
            <a:avLst>
              <a:gd name="adj" fmla="val 3846"/>
            </a:avLst>
          </a:prstGeom>
          <a:solidFill>
            <a:srgbClr val="122038"/>
          </a:solidFill>
          <a:ln w="12700">
            <a:solidFill>
              <a:srgbClr val="22314B"/>
            </a:solidFill>
            <a:prstDash val="solid"/>
          </a:ln>
          <a:effectLst>
            <a:outerShdw sx="100000" sy="100000" kx="0" ky="0" algn="bl" rotWithShape="0" blurRad="25400" dist="12700" dir="2700000">
              <a:srgbClr val="000000">
                <a:alpha val="20000"/>
              </a:srgbClr>
            </a:outerShdw>
          </a:effectLst>
        </p:spPr>
      </p:sp>
      <p:sp>
        <p:nvSpPr>
          <p:cNvPr id="19" name="Shape 15"/>
          <p:cNvSpPr/>
          <p:nvPr/>
        </p:nvSpPr>
        <p:spPr>
          <a:xfrm>
            <a:off x="8942832" y="1801368"/>
            <a:ext cx="73152" cy="1609344"/>
          </a:xfrm>
          <a:prstGeom prst="roundRect">
            <a:avLst>
              <a:gd name="adj" fmla="val 25000"/>
            </a:avLst>
          </a:prstGeom>
          <a:solidFill>
            <a:srgbClr val="F97316"/>
          </a:solidFill>
          <a:ln w="12700">
            <a:solidFill>
              <a:srgbClr val="F97316">
                <a:alpha val="0"/>
              </a:srgbClr>
            </a:solidFill>
            <a:prstDash val="solid"/>
          </a:ln>
        </p:spPr>
      </p:sp>
      <p:sp>
        <p:nvSpPr>
          <p:cNvPr id="20" name="Text 16"/>
          <p:cNvSpPr/>
          <p:nvPr/>
        </p:nvSpPr>
        <p:spPr>
          <a:xfrm>
            <a:off x="9089136" y="1801368"/>
            <a:ext cx="2331720" cy="201168"/>
          </a:xfrm>
          <a:prstGeom prst="rect">
            <a:avLst/>
          </a:prstGeom>
          <a:noFill/>
          <a:ln/>
        </p:spPr>
        <p:txBody>
          <a:bodyPr wrap="square" lIns="0" tIns="0" rIns="0" bIns="0" rtlCol="0" anchor="ctr"/>
          <a:lstStyle/>
          <a:p>
            <a:pPr indent="0" marL="0">
              <a:buNone/>
            </a:pPr>
            <a:r>
              <a:rPr lang="en-US" sz="1100" b="1" dirty="0">
                <a:solidFill>
                  <a:srgbClr val="F7FAFC"/>
                </a:solidFill>
                <a:latin typeface="Aptos" pitchFamily="34" charset="0"/>
                <a:ea typeface="Aptos" pitchFamily="34" charset="-122"/>
                <a:cs typeface="Aptos" pitchFamily="34" charset="-120"/>
              </a:rPr>
              <a:t>Karsilastirmali yorum</a:t>
            </a:r>
            <a:endParaRPr lang="en-US" sz="1100" dirty="0"/>
          </a:p>
        </p:txBody>
      </p:sp>
      <p:sp>
        <p:nvSpPr>
          <p:cNvPr id="21" name="Text 17"/>
          <p:cNvSpPr/>
          <p:nvPr/>
        </p:nvSpPr>
        <p:spPr>
          <a:xfrm>
            <a:off x="9089136" y="2039112"/>
            <a:ext cx="2331720" cy="1408176"/>
          </a:xfrm>
          <a:prstGeom prst="rect">
            <a:avLst/>
          </a:prstGeom>
          <a:noFill/>
          <a:ln/>
        </p:spPr>
        <p:txBody>
          <a:bodyPr wrap="square" lIns="0" tIns="0" rIns="0" bIns="0" rtlCol="0" anchor="t"/>
          <a:lstStyle/>
          <a:p>
            <a:pPr indent="0" marL="0">
              <a:buNone/>
            </a:pPr>
            <a:r>
              <a:rPr lang="en-US" sz="900" dirty="0">
                <a:solidFill>
                  <a:srgbClr val="B8C4D5"/>
                </a:solidFill>
                <a:latin typeface="Aptos" pitchFamily="34" charset="0"/>
                <a:ea typeface="Aptos" pitchFamily="34" charset="-122"/>
                <a:cs typeface="Aptos" pitchFamily="34" charset="-120"/>
              </a:rPr>
              <a:t>Bizim detector burst'u tek incident gibi net ayiriyor ve beklenen banttan kopusu daha temiz gosteriyor. Elastic ayni bolgeyi yakaliyor ancak score threshold secimine daha bagimli ve genel basari daha dusuk.</a:t>
            </a:r>
            <a:endParaRPr lang="en-US" sz="900" dirty="0"/>
          </a:p>
        </p:txBody>
      </p:sp>
      <p:sp>
        <p:nvSpPr>
          <p:cNvPr id="22" name="Text 18"/>
          <p:cNvSpPr/>
          <p:nvPr/>
        </p:nvSpPr>
        <p:spPr>
          <a:xfrm>
            <a:off x="768096" y="3675888"/>
            <a:ext cx="1417320" cy="274320"/>
          </a:xfrm>
          <a:prstGeom prst="rect">
            <a:avLst/>
          </a:prstGeom>
          <a:solidFill>
            <a:srgbClr val="38BDF8">
              <a:alpha val="20000"/>
            </a:srgbClr>
          </a:solidFill>
          <a:ln>
            <a:solidFill>
              <a:srgbClr val="38BDF8">
                <a:alpha val="0"/>
              </a:srgbClr>
            </a:solidFill>
          </a:ln>
        </p:spPr>
        <p:txBody>
          <a:bodyPr wrap="square" lIns="0" tIns="0" rIns="0" bIns="0" rtlCol="0" anchor="ctr"/>
          <a:lstStyle/>
          <a:p>
            <a:pPr algn="ctr" indent="0" marL="0">
              <a:buNone/>
            </a:pPr>
            <a:r>
              <a:rPr lang="en-US" sz="800" b="1" dirty="0">
                <a:solidFill>
                  <a:srgbClr val="F7FAFC"/>
                </a:solidFill>
                <a:latin typeface="Aptos" pitchFamily="34" charset="0"/>
                <a:ea typeface="Aptos" pitchFamily="34" charset="-122"/>
                <a:cs typeface="Aptos" pitchFamily="34" charset="-120"/>
              </a:rPr>
              <a:t>LEVEL SHIFT</a:t>
            </a:r>
            <a:endParaRPr lang="en-US" sz="800" dirty="0"/>
          </a:p>
        </p:txBody>
      </p:sp>
      <p:sp>
        <p:nvSpPr>
          <p:cNvPr id="23" name="Shape 19"/>
          <p:cNvSpPr/>
          <p:nvPr/>
        </p:nvSpPr>
        <p:spPr>
          <a:xfrm>
            <a:off x="713232" y="3986784"/>
            <a:ext cx="3822192" cy="1901952"/>
          </a:xfrm>
          <a:prstGeom prst="roundRect">
            <a:avLst>
              <a:gd name="adj" fmla="val 3846"/>
            </a:avLst>
          </a:prstGeom>
          <a:solidFill>
            <a:srgbClr val="0F1A2B"/>
          </a:solidFill>
          <a:ln w="12700">
            <a:solidFill>
              <a:srgbClr val="22314B"/>
            </a:solidFill>
            <a:prstDash val="solid"/>
          </a:ln>
          <a:effectLst>
            <a:outerShdw sx="100000" sy="100000" kx="0" ky="0" algn="bl" rotWithShape="0" blurRad="25400" dist="12700" dir="2700000">
              <a:srgbClr val="000000">
                <a:alpha val="20000"/>
              </a:srgbClr>
            </a:outerShdw>
          </a:effectLst>
        </p:spPr>
      </p:sp>
      <p:sp>
        <p:nvSpPr>
          <p:cNvPr id="24" name="Text 20"/>
          <p:cNvSpPr/>
          <p:nvPr/>
        </p:nvSpPr>
        <p:spPr>
          <a:xfrm>
            <a:off x="896112" y="4133088"/>
            <a:ext cx="2194560" cy="164592"/>
          </a:xfrm>
          <a:prstGeom prst="rect">
            <a:avLst/>
          </a:prstGeom>
          <a:noFill/>
          <a:ln/>
        </p:spPr>
        <p:txBody>
          <a:bodyPr wrap="square" lIns="0" tIns="0" rIns="0" bIns="0" rtlCol="0" anchor="ctr"/>
          <a:lstStyle/>
          <a:p>
            <a:pPr indent="0" marL="0">
              <a:buNone/>
            </a:pPr>
            <a:r>
              <a:rPr lang="en-US" sz="1100" b="1" dirty="0">
                <a:solidFill>
                  <a:srgbClr val="F7FAFC"/>
                </a:solidFill>
                <a:latin typeface="Aptos" pitchFamily="34" charset="0"/>
                <a:ea typeface="Aptos" pitchFamily="34" charset="-122"/>
                <a:cs typeface="Aptos" pitchFamily="34" charset="-120"/>
              </a:rPr>
              <a:t>Grafana Anomaly Detector</a:t>
            </a:r>
            <a:endParaRPr lang="en-US" sz="1100" dirty="0"/>
          </a:p>
        </p:txBody>
      </p:sp>
      <p:sp>
        <p:nvSpPr>
          <p:cNvPr id="25" name="Text 21"/>
          <p:cNvSpPr/>
          <p:nvPr/>
        </p:nvSpPr>
        <p:spPr>
          <a:xfrm>
            <a:off x="3310128" y="4114800"/>
            <a:ext cx="987552" cy="219456"/>
          </a:xfrm>
          <a:prstGeom prst="rect">
            <a:avLst/>
          </a:prstGeom>
          <a:noFill/>
          <a:ln/>
        </p:spPr>
        <p:txBody>
          <a:bodyPr wrap="square" lIns="0" tIns="0" rIns="0" bIns="0" rtlCol="0" anchor="ctr"/>
          <a:lstStyle/>
          <a:p>
            <a:pPr algn="r" indent="0" marL="0">
              <a:buNone/>
            </a:pPr>
            <a:r>
              <a:rPr lang="en-US" sz="900" b="1" dirty="0">
                <a:solidFill>
                  <a:srgbClr val="22C55E"/>
                </a:solidFill>
                <a:latin typeface="Aptos" pitchFamily="34" charset="0"/>
                <a:ea typeface="Aptos" pitchFamily="34" charset="-122"/>
                <a:cs typeface="Aptos" pitchFamily="34" charset="-120"/>
              </a:rPr>
              <a:t>F1 1.00</a:t>
            </a:r>
            <a:endParaRPr lang="en-US" sz="900" dirty="0"/>
          </a:p>
        </p:txBody>
      </p:sp>
      <p:pic>
        <p:nvPicPr>
          <p:cNvPr id="26" name="Image 2" descr="C:\Users\alpas\Documents\CodexSample\grafana-anomaly-lab\benchmarks\presentation\assets\screenshots\grafana-levelshift-real.png">    </p:cNvPr>
          <p:cNvPicPr>
            <a:picLocks noChangeAspect="1"/>
          </p:cNvPicPr>
          <p:nvPr/>
        </p:nvPicPr>
        <p:blipFill>
          <a:blip r:embed="rId3"/>
          <a:stretch>
            <a:fillRect/>
          </a:stretch>
        </p:blipFill>
        <p:spPr>
          <a:xfrm>
            <a:off x="1482442" y="4370832"/>
            <a:ext cx="2283772" cy="1335024"/>
          </a:xfrm>
          <a:prstGeom prst="rect">
            <a:avLst/>
          </a:prstGeom>
        </p:spPr>
      </p:pic>
      <p:sp>
        <p:nvSpPr>
          <p:cNvPr id="27" name="Shape 22"/>
          <p:cNvSpPr/>
          <p:nvPr/>
        </p:nvSpPr>
        <p:spPr>
          <a:xfrm>
            <a:off x="4754880" y="3986784"/>
            <a:ext cx="3822192" cy="1901952"/>
          </a:xfrm>
          <a:prstGeom prst="roundRect">
            <a:avLst>
              <a:gd name="adj" fmla="val 3846"/>
            </a:avLst>
          </a:prstGeom>
          <a:solidFill>
            <a:srgbClr val="0F1A2B"/>
          </a:solidFill>
          <a:ln w="12700">
            <a:solidFill>
              <a:srgbClr val="22314B"/>
            </a:solidFill>
            <a:prstDash val="solid"/>
          </a:ln>
          <a:effectLst>
            <a:outerShdw sx="100000" sy="100000" kx="0" ky="0" algn="bl" rotWithShape="0" blurRad="25400" dist="12700" dir="2700000">
              <a:srgbClr val="000000">
                <a:alpha val="20000"/>
              </a:srgbClr>
            </a:outerShdw>
          </a:effectLst>
        </p:spPr>
      </p:sp>
      <p:sp>
        <p:nvSpPr>
          <p:cNvPr id="28" name="Text 23"/>
          <p:cNvSpPr/>
          <p:nvPr/>
        </p:nvSpPr>
        <p:spPr>
          <a:xfrm>
            <a:off x="4937760" y="4133088"/>
            <a:ext cx="1920240" cy="164592"/>
          </a:xfrm>
          <a:prstGeom prst="rect">
            <a:avLst/>
          </a:prstGeom>
          <a:noFill/>
          <a:ln/>
        </p:spPr>
        <p:txBody>
          <a:bodyPr wrap="square" lIns="0" tIns="0" rIns="0" bIns="0" rtlCol="0" anchor="ctr"/>
          <a:lstStyle/>
          <a:p>
            <a:pPr indent="0" marL="0">
              <a:buNone/>
            </a:pPr>
            <a:r>
              <a:rPr lang="en-US" sz="1100" b="1" dirty="0">
                <a:solidFill>
                  <a:srgbClr val="F7FAFC"/>
                </a:solidFill>
                <a:latin typeface="Aptos" pitchFamily="34" charset="0"/>
                <a:ea typeface="Aptos" pitchFamily="34" charset="-122"/>
                <a:cs typeface="Aptos" pitchFamily="34" charset="-120"/>
              </a:rPr>
              <a:t>Elastic ML</a:t>
            </a:r>
            <a:endParaRPr lang="en-US" sz="1100" dirty="0"/>
          </a:p>
        </p:txBody>
      </p:sp>
      <p:sp>
        <p:nvSpPr>
          <p:cNvPr id="29" name="Text 24"/>
          <p:cNvSpPr/>
          <p:nvPr/>
        </p:nvSpPr>
        <p:spPr>
          <a:xfrm>
            <a:off x="7296912" y="4114800"/>
            <a:ext cx="1097280" cy="219456"/>
          </a:xfrm>
          <a:prstGeom prst="rect">
            <a:avLst/>
          </a:prstGeom>
          <a:noFill/>
          <a:ln/>
        </p:spPr>
        <p:txBody>
          <a:bodyPr wrap="square" lIns="0" tIns="0" rIns="0" bIns="0" rtlCol="0" anchor="ctr"/>
          <a:lstStyle/>
          <a:p>
            <a:pPr algn="r" indent="0" marL="0">
              <a:buNone/>
            </a:pPr>
            <a:r>
              <a:rPr lang="en-US" sz="900" b="1" dirty="0">
                <a:solidFill>
                  <a:srgbClr val="F59E0B"/>
                </a:solidFill>
                <a:latin typeface="Aptos" pitchFamily="34" charset="0"/>
                <a:ea typeface="Aptos" pitchFamily="34" charset="-122"/>
                <a:cs typeface="Aptos" pitchFamily="34" charset="-120"/>
              </a:rPr>
              <a:t>F1 0.87</a:t>
            </a:r>
            <a:endParaRPr lang="en-US" sz="900" dirty="0"/>
          </a:p>
        </p:txBody>
      </p:sp>
      <p:pic>
        <p:nvPicPr>
          <p:cNvPr id="30" name="Image 3" descr="C:\Users\alpas\Documents\CodexSample\grafana-anomaly-lab\benchmarks\presentation\assets\screenshots\elastic-levelshift-real.png">    </p:cNvPr>
          <p:cNvPicPr>
            <a:picLocks noChangeAspect="1"/>
          </p:cNvPicPr>
          <p:nvPr/>
        </p:nvPicPr>
        <p:blipFill>
          <a:blip r:embed="rId4"/>
          <a:stretch>
            <a:fillRect/>
          </a:stretch>
        </p:blipFill>
        <p:spPr>
          <a:xfrm>
            <a:off x="5679930" y="4370832"/>
            <a:ext cx="1972092" cy="1335024"/>
          </a:xfrm>
          <a:prstGeom prst="rect">
            <a:avLst/>
          </a:prstGeom>
        </p:spPr>
      </p:pic>
      <p:sp>
        <p:nvSpPr>
          <p:cNvPr id="31" name="Shape 25"/>
          <p:cNvSpPr/>
          <p:nvPr/>
        </p:nvSpPr>
        <p:spPr>
          <a:xfrm>
            <a:off x="8796528" y="3986784"/>
            <a:ext cx="2770632" cy="1901952"/>
          </a:xfrm>
          <a:prstGeom prst="roundRect">
            <a:avLst>
              <a:gd name="adj" fmla="val 3846"/>
            </a:avLst>
          </a:prstGeom>
          <a:solidFill>
            <a:srgbClr val="122038"/>
          </a:solidFill>
          <a:ln w="12700">
            <a:solidFill>
              <a:srgbClr val="22314B"/>
            </a:solidFill>
            <a:prstDash val="solid"/>
          </a:ln>
          <a:effectLst>
            <a:outerShdw sx="100000" sy="100000" kx="0" ky="0" algn="bl" rotWithShape="0" blurRad="25400" dist="12700" dir="2700000">
              <a:srgbClr val="000000">
                <a:alpha val="20000"/>
              </a:srgbClr>
            </a:outerShdw>
          </a:effectLst>
        </p:spPr>
      </p:sp>
      <p:sp>
        <p:nvSpPr>
          <p:cNvPr id="32" name="Shape 26"/>
          <p:cNvSpPr/>
          <p:nvPr/>
        </p:nvSpPr>
        <p:spPr>
          <a:xfrm>
            <a:off x="8942832" y="4133088"/>
            <a:ext cx="73152" cy="1609344"/>
          </a:xfrm>
          <a:prstGeom prst="roundRect">
            <a:avLst>
              <a:gd name="adj" fmla="val 25000"/>
            </a:avLst>
          </a:prstGeom>
          <a:solidFill>
            <a:srgbClr val="38BDF8"/>
          </a:solidFill>
          <a:ln w="12700">
            <a:solidFill>
              <a:srgbClr val="38BDF8">
                <a:alpha val="0"/>
              </a:srgbClr>
            </a:solidFill>
            <a:prstDash val="solid"/>
          </a:ln>
        </p:spPr>
      </p:sp>
      <p:sp>
        <p:nvSpPr>
          <p:cNvPr id="33" name="Text 27"/>
          <p:cNvSpPr/>
          <p:nvPr/>
        </p:nvSpPr>
        <p:spPr>
          <a:xfrm>
            <a:off x="9089136" y="4133088"/>
            <a:ext cx="2331720" cy="201168"/>
          </a:xfrm>
          <a:prstGeom prst="rect">
            <a:avLst/>
          </a:prstGeom>
          <a:noFill/>
          <a:ln/>
        </p:spPr>
        <p:txBody>
          <a:bodyPr wrap="square" lIns="0" tIns="0" rIns="0" bIns="0" rtlCol="0" anchor="ctr"/>
          <a:lstStyle/>
          <a:p>
            <a:pPr indent="0" marL="0">
              <a:buNone/>
            </a:pPr>
            <a:r>
              <a:rPr lang="en-US" sz="1100" b="1" dirty="0">
                <a:solidFill>
                  <a:srgbClr val="F7FAFC"/>
                </a:solidFill>
                <a:latin typeface="Aptos" pitchFamily="34" charset="0"/>
                <a:ea typeface="Aptos" pitchFamily="34" charset="-122"/>
                <a:cs typeface="Aptos" pitchFamily="34" charset="-120"/>
              </a:rPr>
              <a:t>Karsilastirmali yorum</a:t>
            </a:r>
            <a:endParaRPr lang="en-US" sz="1100" dirty="0"/>
          </a:p>
        </p:txBody>
      </p:sp>
      <p:sp>
        <p:nvSpPr>
          <p:cNvPr id="34" name="Text 28"/>
          <p:cNvSpPr/>
          <p:nvPr/>
        </p:nvSpPr>
        <p:spPr>
          <a:xfrm>
            <a:off x="9089136" y="4370832"/>
            <a:ext cx="2331720" cy="1408176"/>
          </a:xfrm>
          <a:prstGeom prst="rect">
            <a:avLst/>
          </a:prstGeom>
          <a:noFill/>
          <a:ln/>
        </p:spPr>
        <p:txBody>
          <a:bodyPr wrap="square" lIns="0" tIns="0" rIns="0" bIns="0" rtlCol="0" anchor="t"/>
          <a:lstStyle/>
          <a:p>
            <a:pPr indent="0" marL="0">
              <a:buNone/>
            </a:pPr>
            <a:r>
              <a:rPr lang="en-US" sz="900" dirty="0">
                <a:solidFill>
                  <a:srgbClr val="B8C4D5"/>
                </a:solidFill>
                <a:latin typeface="Aptos" pitchFamily="34" charset="0"/>
                <a:ea typeface="Aptos" pitchFamily="34" charset="-122"/>
                <a:cs typeface="Aptos" pitchFamily="34" charset="-120"/>
              </a:rPr>
              <a:t>Kalici seviye kaymasinda bizim detector baseline kirilmasini daha istikrarli izliyor. Elastic ayni pencereyi goruyor ama daha parca parca tepki veriyor ve toplam kalite final detector'un gerisinde kaliyor.</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8111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8111F"/>
          </a:solidFill>
          <a:ln w="12700">
            <a:solidFill>
              <a:srgbClr val="08111F">
                <a:alpha val="0"/>
              </a:srgbClr>
            </a:solidFill>
            <a:prstDash val="solid"/>
          </a:ln>
        </p:spPr>
      </p:sp>
      <p:sp>
        <p:nvSpPr>
          <p:cNvPr id="3" name="Shape 1"/>
          <p:cNvSpPr/>
          <p:nvPr/>
        </p:nvSpPr>
        <p:spPr>
          <a:xfrm>
            <a:off x="502920" y="292608"/>
            <a:ext cx="11183112" cy="27432"/>
          </a:xfrm>
          <a:prstGeom prst="rect">
            <a:avLst/>
          </a:prstGeom>
          <a:solidFill>
            <a:srgbClr val="F97316"/>
          </a:solidFill>
          <a:ln w="12700">
            <a:solidFill>
              <a:srgbClr val="F97316">
                <a:alpha val="0"/>
              </a:srgbClr>
            </a:solidFill>
            <a:prstDash val="solid"/>
          </a:ln>
        </p:spPr>
      </p:sp>
      <p:sp>
        <p:nvSpPr>
          <p:cNvPr id="4" name="Text 2"/>
          <p:cNvSpPr/>
          <p:nvPr/>
        </p:nvSpPr>
        <p:spPr>
          <a:xfrm>
            <a:off x="566928" y="109728"/>
            <a:ext cx="4389120" cy="164592"/>
          </a:xfrm>
          <a:prstGeom prst="rect">
            <a:avLst/>
          </a:prstGeom>
          <a:noFill/>
          <a:ln/>
        </p:spPr>
        <p:txBody>
          <a:bodyPr wrap="square" lIns="0" tIns="0" rIns="0" bIns="0" rtlCol="0" anchor="ctr"/>
          <a:lstStyle/>
          <a:p>
            <a:pPr indent="0" marL="0">
              <a:buNone/>
            </a:pPr>
            <a:r>
              <a:rPr lang="en-US" sz="1000" b="1" dirty="0">
                <a:solidFill>
                  <a:srgbClr val="F97316"/>
                </a:solidFill>
                <a:latin typeface="Aptos" pitchFamily="34" charset="0"/>
                <a:ea typeface="Aptos" pitchFamily="34" charset="-122"/>
                <a:cs typeface="Aptos" pitchFamily="34" charset="-120"/>
              </a:rPr>
              <a:t>SAYISAL KIYAS</a:t>
            </a:r>
            <a:endParaRPr lang="en-US" sz="1000" dirty="0"/>
          </a:p>
        </p:txBody>
      </p:sp>
      <p:sp>
        <p:nvSpPr>
          <p:cNvPr id="5" name="Text 3"/>
          <p:cNvSpPr/>
          <p:nvPr/>
        </p:nvSpPr>
        <p:spPr>
          <a:xfrm>
            <a:off x="566928" y="438912"/>
            <a:ext cx="6583680" cy="310896"/>
          </a:xfrm>
          <a:prstGeom prst="rect">
            <a:avLst/>
          </a:prstGeom>
          <a:noFill/>
          <a:ln/>
        </p:spPr>
        <p:txBody>
          <a:bodyPr wrap="square" lIns="0" tIns="0" rIns="0" bIns="0" rtlCol="0" anchor="ctr"/>
          <a:lstStyle/>
          <a:p>
            <a:pPr indent="0" marL="0">
              <a:buNone/>
            </a:pPr>
            <a:r>
              <a:rPr lang="en-US" sz="2400" b="1" dirty="0">
                <a:solidFill>
                  <a:srgbClr val="F7FAFC"/>
                </a:solidFill>
                <a:latin typeface="Aptos Display" pitchFamily="34" charset="0"/>
                <a:ea typeface="Aptos Display" pitchFamily="34" charset="-122"/>
                <a:cs typeface="Aptos Display" pitchFamily="34" charset="-120"/>
              </a:rPr>
              <a:t>Final detector vs Elastic ML</a:t>
            </a:r>
            <a:endParaRPr lang="en-US" sz="2400" dirty="0"/>
          </a:p>
        </p:txBody>
      </p:sp>
      <p:sp>
        <p:nvSpPr>
          <p:cNvPr id="6" name="Text 4"/>
          <p:cNvSpPr/>
          <p:nvPr/>
        </p:nvSpPr>
        <p:spPr>
          <a:xfrm>
            <a:off x="566928" y="822960"/>
            <a:ext cx="8046720" cy="292608"/>
          </a:xfrm>
          <a:prstGeom prst="rect">
            <a:avLst/>
          </a:prstGeom>
          <a:noFill/>
          <a:ln/>
        </p:spPr>
        <p:txBody>
          <a:bodyPr wrap="square" lIns="0" tIns="0" rIns="0" bIns="0" rtlCol="0" anchor="ctr"/>
          <a:lstStyle/>
          <a:p>
            <a:pPr indent="0" marL="0">
              <a:buNone/>
            </a:pPr>
            <a:r>
              <a:rPr lang="en-US" sz="1100" dirty="0">
                <a:solidFill>
                  <a:srgbClr val="B8C4D5"/>
                </a:solidFill>
                <a:latin typeface="Aptos" pitchFamily="34" charset="0"/>
                <a:ea typeface="Aptos" pitchFamily="34" charset="-122"/>
                <a:cs typeface="Aptos" pitchFamily="34" charset="-120"/>
              </a:rPr>
              <a:t>Sayisal sonuc, gorsel benchmarkta gozlenen farki dogruluyor.</a:t>
            </a:r>
            <a:endParaRPr lang="en-US" sz="1100" dirty="0"/>
          </a:p>
        </p:txBody>
      </p:sp>
      <p:sp>
        <p:nvSpPr>
          <p:cNvPr id="7" name="Text 5"/>
          <p:cNvSpPr/>
          <p:nvPr/>
        </p:nvSpPr>
        <p:spPr>
          <a:xfrm>
            <a:off x="566928" y="6510528"/>
            <a:ext cx="5120640" cy="146304"/>
          </a:xfrm>
          <a:prstGeom prst="rect">
            <a:avLst/>
          </a:prstGeom>
          <a:noFill/>
          <a:ln/>
        </p:spPr>
        <p:txBody>
          <a:bodyPr wrap="square" lIns="0" tIns="0" rIns="0" bIns="0" rtlCol="0" anchor="ctr"/>
          <a:lstStyle/>
          <a:p>
            <a:pPr indent="0" marL="0">
              <a:buNone/>
            </a:pPr>
            <a:r>
              <a:rPr lang="en-US" sz="800" dirty="0">
                <a:solidFill>
                  <a:srgbClr val="7D8CA2"/>
                </a:solidFill>
                <a:latin typeface="Aptos" pitchFamily="34" charset="0"/>
                <a:ea typeface="Aptos" pitchFamily="34" charset="-122"/>
                <a:cs typeface="Aptos" pitchFamily="34" charset="-120"/>
              </a:rPr>
              <a:t>Grafana Anomaly Detector | Final benchmark revizyonu</a:t>
            </a:r>
            <a:endParaRPr lang="en-US" sz="800" dirty="0"/>
          </a:p>
        </p:txBody>
      </p:sp>
      <p:sp>
        <p:nvSpPr>
          <p:cNvPr id="8" name="Text 6"/>
          <p:cNvSpPr/>
          <p:nvPr/>
        </p:nvSpPr>
        <p:spPr>
          <a:xfrm>
            <a:off x="11247120" y="6473952"/>
            <a:ext cx="365760" cy="182880"/>
          </a:xfrm>
          <a:prstGeom prst="rect">
            <a:avLst/>
          </a:prstGeom>
          <a:noFill/>
          <a:ln/>
        </p:spPr>
        <p:txBody>
          <a:bodyPr wrap="square" lIns="0" tIns="0" rIns="0" bIns="0" rtlCol="0" anchor="ctr"/>
          <a:lstStyle/>
          <a:p>
            <a:pPr algn="r" indent="0" marL="0">
              <a:buNone/>
            </a:pPr>
            <a:r>
              <a:rPr lang="en-US" sz="800" dirty="0">
                <a:solidFill>
                  <a:srgbClr val="7D8CA2"/>
                </a:solidFill>
                <a:latin typeface="Aptos" pitchFamily="34" charset="0"/>
                <a:ea typeface="Aptos" pitchFamily="34" charset="-122"/>
                <a:cs typeface="Aptos" pitchFamily="34" charset="-120"/>
              </a:rPr>
              <a:t>6</a:t>
            </a:r>
            <a:endParaRPr lang="en-US" sz="800" dirty="0"/>
          </a:p>
        </p:txBody>
      </p:sp>
      <p:graphicFrame>
        <p:nvGraphicFramePr>
          <p:cNvPr id="9" name="Chart 0" descr=""/>
          <p:cNvGraphicFramePr/>
          <p:nvPr/>
        </p:nvGraphicFramePr>
        <p:xfrm>
          <a:off x="694944" y="1417320"/>
          <a:ext cx="5989320" cy="4160520"/>
        </p:xfrm>
        <a:graphic xmlns:a="http://schemas.openxmlformats.org/drawingml/2006/main">
          <a:graphicData uri="http://schemas.openxmlformats.org/drawingml/2006/chart">
            <c:chart xmlns:c="http://schemas.openxmlformats.org/drawingml/2006/chart" r:id="rId1"/>
          </a:graphicData>
        </a:graphic>
      </p:graphicFrame>
      <p:sp>
        <p:nvSpPr>
          <p:cNvPr id="10" name="Shape 7"/>
          <p:cNvSpPr/>
          <p:nvPr/>
        </p:nvSpPr>
        <p:spPr>
          <a:xfrm>
            <a:off x="6949440" y="1417320"/>
            <a:ext cx="4617720" cy="2103120"/>
          </a:xfrm>
          <a:prstGeom prst="roundRect">
            <a:avLst>
              <a:gd name="adj" fmla="val 3478"/>
            </a:avLst>
          </a:prstGeom>
          <a:solidFill>
            <a:srgbClr val="0F1A2B"/>
          </a:solidFill>
          <a:ln w="12700">
            <a:solidFill>
              <a:srgbClr val="22314B"/>
            </a:solidFill>
            <a:prstDash val="solid"/>
          </a:ln>
          <a:effectLst>
            <a:outerShdw sx="100000" sy="100000" kx="0" ky="0" algn="bl" rotWithShape="0" blurRad="25400" dist="12700" dir="2700000">
              <a:srgbClr val="000000">
                <a:alpha val="20000"/>
              </a:srgbClr>
            </a:outerShdw>
          </a:effectLst>
        </p:spPr>
      </p:sp>
      <p:sp>
        <p:nvSpPr>
          <p:cNvPr id="11" name="Text 8"/>
          <p:cNvSpPr/>
          <p:nvPr/>
        </p:nvSpPr>
        <p:spPr>
          <a:xfrm>
            <a:off x="7150608" y="1572768"/>
            <a:ext cx="1645920" cy="164592"/>
          </a:xfrm>
          <a:prstGeom prst="rect">
            <a:avLst/>
          </a:prstGeom>
          <a:noFill/>
          <a:ln/>
        </p:spPr>
        <p:txBody>
          <a:bodyPr wrap="square" lIns="0" tIns="0" rIns="0" bIns="0" rtlCol="0" anchor="ctr"/>
          <a:lstStyle/>
          <a:p>
            <a:pPr indent="0" marL="0">
              <a:buNone/>
            </a:pPr>
            <a:r>
              <a:rPr lang="en-US" sz="1100" b="1" dirty="0">
                <a:solidFill>
                  <a:srgbClr val="F7FAFC"/>
                </a:solidFill>
                <a:latin typeface="Aptos" pitchFamily="34" charset="0"/>
                <a:ea typeface="Aptos" pitchFamily="34" charset="-122"/>
                <a:cs typeface="Aptos" pitchFamily="34" charset="-120"/>
              </a:rPr>
              <a:t>Senaryo bazli karar</a:t>
            </a:r>
            <a:endParaRPr lang="en-US" sz="1100" dirty="0"/>
          </a:p>
        </p:txBody>
      </p:sp>
      <p:sp>
        <p:nvSpPr>
          <p:cNvPr id="12" name="Text 9"/>
          <p:cNvSpPr/>
          <p:nvPr/>
        </p:nvSpPr>
        <p:spPr>
          <a:xfrm>
            <a:off x="7150608" y="1874520"/>
            <a:ext cx="4114800" cy="1536192"/>
          </a:xfrm>
          <a:prstGeom prst="rect">
            <a:avLst/>
          </a:prstGeom>
          <a:noFill/>
          <a:ln/>
        </p:spPr>
        <p:txBody>
          <a:bodyPr wrap="square" lIns="0" tIns="0" rIns="0" bIns="0" rtlCol="0" anchor="t"/>
          <a:lstStyle/>
          <a:p>
            <a:pPr marL="152400" indent="-152400">
              <a:buSzPct val="100000"/>
              <a:buChar char="•"/>
            </a:pPr>
            <a:r>
              <a:rPr lang="en-US" sz="1000" dirty="0">
                <a:solidFill>
                  <a:srgbClr val="B8C4D5"/>
                </a:solidFill>
                <a:latin typeface="Aptos" pitchFamily="34" charset="0"/>
                <a:ea typeface="Aptos" pitchFamily="34" charset="-122"/>
                <a:cs typeface="Aptos" pitchFamily="34" charset="-120"/>
              </a:rPr>
              <a:t>Latency spike: Final detector one gecti</a:t>
            </a:r>
            <a:endParaRPr lang="en-US" sz="1000" dirty="0"/>
          </a:p>
          <a:p>
            <a:pPr marL="152400" indent="-152400">
              <a:buSzPct val="100000"/>
              <a:buChar char="•"/>
            </a:pPr>
            <a:r>
              <a:rPr lang="en-US" sz="1000" dirty="0">
                <a:solidFill>
                  <a:srgbClr val="B8C4D5"/>
                </a:solidFill>
                <a:latin typeface="Aptos" pitchFamily="34" charset="0"/>
                <a:ea typeface="Aptos" pitchFamily="34" charset="-122"/>
                <a:cs typeface="Aptos" pitchFamily="34" charset="-120"/>
              </a:rPr>
              <a:t>Error burst: Final detector one gecti</a:t>
            </a:r>
            <a:endParaRPr lang="en-US" sz="1000" dirty="0"/>
          </a:p>
          <a:p>
            <a:pPr marL="152400" indent="-152400">
              <a:buSzPct val="100000"/>
              <a:buChar char="•"/>
            </a:pPr>
            <a:r>
              <a:rPr lang="en-US" sz="1000" dirty="0">
                <a:solidFill>
                  <a:srgbClr val="B8C4D5"/>
                </a:solidFill>
                <a:latin typeface="Aptos" pitchFamily="34" charset="0"/>
                <a:ea typeface="Aptos" pitchFamily="34" charset="-122"/>
                <a:cs typeface="Aptos" pitchFamily="34" charset="-120"/>
              </a:rPr>
              <a:t>Traffic drop: Final detector one gecti</a:t>
            </a:r>
            <a:endParaRPr lang="en-US" sz="1000" dirty="0"/>
          </a:p>
          <a:p>
            <a:pPr marL="152400" indent="-152400">
              <a:buSzPct val="100000"/>
              <a:buChar char="•"/>
            </a:pPr>
            <a:r>
              <a:rPr lang="en-US" sz="1000" dirty="0">
                <a:solidFill>
                  <a:srgbClr val="B8C4D5"/>
                </a:solidFill>
                <a:latin typeface="Aptos" pitchFamily="34" charset="0"/>
                <a:ea typeface="Aptos" pitchFamily="34" charset="-122"/>
                <a:cs typeface="Aptos" pitchFamily="34" charset="-120"/>
              </a:rPr>
              <a:t>Seasonal hourly spike: esit kalite</a:t>
            </a:r>
            <a:endParaRPr lang="en-US" sz="1000" dirty="0"/>
          </a:p>
          <a:p>
            <a:pPr marL="152400" indent="-152400">
              <a:buSzPct val="100000"/>
              <a:buChar char="•"/>
            </a:pPr>
            <a:r>
              <a:rPr lang="en-US" sz="1000" dirty="0">
                <a:solidFill>
                  <a:srgbClr val="B8C4D5"/>
                </a:solidFill>
                <a:latin typeface="Aptos" pitchFamily="34" charset="0"/>
                <a:ea typeface="Aptos" pitchFamily="34" charset="-122"/>
                <a:cs typeface="Aptos" pitchFamily="34" charset="-120"/>
              </a:rPr>
              <a:t>Resource step-up: Final detector one gecti</a:t>
            </a:r>
            <a:endParaRPr lang="en-US" sz="1000" dirty="0"/>
          </a:p>
          <a:p>
            <a:pPr marL="152400" indent="-152400">
              <a:buSzPct val="100000"/>
              <a:buChar char="•"/>
            </a:pPr>
            <a:r>
              <a:rPr lang="en-US" sz="1000" dirty="0">
                <a:solidFill>
                  <a:srgbClr val="B8C4D5"/>
                </a:solidFill>
                <a:latin typeface="Aptos" pitchFamily="34" charset="0"/>
                <a:ea typeface="Aptos" pitchFamily="34" charset="-122"/>
                <a:cs typeface="Aptos" pitchFamily="34" charset="-120"/>
              </a:rPr>
              <a:t>Subtle level shift: Final detector one gecti</a:t>
            </a:r>
            <a:endParaRPr lang="en-US" sz="1000" dirty="0"/>
          </a:p>
        </p:txBody>
      </p:sp>
      <p:sp>
        <p:nvSpPr>
          <p:cNvPr id="13" name="Shape 10"/>
          <p:cNvSpPr/>
          <p:nvPr/>
        </p:nvSpPr>
        <p:spPr>
          <a:xfrm>
            <a:off x="6949440" y="3703320"/>
            <a:ext cx="4617720" cy="1828800"/>
          </a:xfrm>
          <a:prstGeom prst="roundRect">
            <a:avLst>
              <a:gd name="adj" fmla="val 4000"/>
            </a:avLst>
          </a:prstGeom>
          <a:solidFill>
            <a:srgbClr val="122038"/>
          </a:solidFill>
          <a:ln w="12700">
            <a:solidFill>
              <a:srgbClr val="22314B"/>
            </a:solidFill>
            <a:prstDash val="solid"/>
          </a:ln>
          <a:effectLst>
            <a:outerShdw sx="100000" sy="100000" kx="0" ky="0" algn="bl" rotWithShape="0" blurRad="25400" dist="12700" dir="2700000">
              <a:srgbClr val="000000">
                <a:alpha val="20000"/>
              </a:srgbClr>
            </a:outerShdw>
          </a:effectLst>
        </p:spPr>
      </p:sp>
      <p:sp>
        <p:nvSpPr>
          <p:cNvPr id="14" name="Shape 11"/>
          <p:cNvSpPr/>
          <p:nvPr/>
        </p:nvSpPr>
        <p:spPr>
          <a:xfrm>
            <a:off x="7095744" y="3849624"/>
            <a:ext cx="73152" cy="1536192"/>
          </a:xfrm>
          <a:prstGeom prst="roundRect">
            <a:avLst>
              <a:gd name="adj" fmla="val 25000"/>
            </a:avLst>
          </a:prstGeom>
          <a:solidFill>
            <a:srgbClr val="F97316"/>
          </a:solidFill>
          <a:ln w="12700">
            <a:solidFill>
              <a:srgbClr val="F97316">
                <a:alpha val="0"/>
              </a:srgbClr>
            </a:solidFill>
            <a:prstDash val="solid"/>
          </a:ln>
        </p:spPr>
      </p:sp>
      <p:sp>
        <p:nvSpPr>
          <p:cNvPr id="15" name="Text 12"/>
          <p:cNvSpPr/>
          <p:nvPr/>
        </p:nvSpPr>
        <p:spPr>
          <a:xfrm>
            <a:off x="7242048" y="3849624"/>
            <a:ext cx="4178808" cy="201168"/>
          </a:xfrm>
          <a:prstGeom prst="rect">
            <a:avLst/>
          </a:prstGeom>
          <a:noFill/>
          <a:ln/>
        </p:spPr>
        <p:txBody>
          <a:bodyPr wrap="square" lIns="0" tIns="0" rIns="0" bIns="0" rtlCol="0" anchor="ctr"/>
          <a:lstStyle/>
          <a:p>
            <a:pPr indent="0" marL="0">
              <a:buNone/>
            </a:pPr>
            <a:r>
              <a:rPr lang="en-US" sz="1100" b="1" dirty="0">
                <a:solidFill>
                  <a:srgbClr val="F7FAFC"/>
                </a:solidFill>
                <a:latin typeface="Aptos" pitchFamily="34" charset="0"/>
                <a:ea typeface="Aptos" pitchFamily="34" charset="-122"/>
                <a:cs typeface="Aptos" pitchFamily="34" charset="-120"/>
              </a:rPr>
              <a:t>Sade yorum</a:t>
            </a:r>
            <a:endParaRPr lang="en-US" sz="1100" dirty="0"/>
          </a:p>
        </p:txBody>
      </p:sp>
      <p:sp>
        <p:nvSpPr>
          <p:cNvPr id="16" name="Text 13"/>
          <p:cNvSpPr/>
          <p:nvPr/>
        </p:nvSpPr>
        <p:spPr>
          <a:xfrm>
            <a:off x="7242048" y="4087368"/>
            <a:ext cx="4178808" cy="1335024"/>
          </a:xfrm>
          <a:prstGeom prst="rect">
            <a:avLst/>
          </a:prstGeom>
          <a:noFill/>
          <a:ln/>
        </p:spPr>
        <p:txBody>
          <a:bodyPr wrap="square" lIns="0" tIns="0" rIns="0" bIns="0" rtlCol="0" anchor="t"/>
          <a:lstStyle/>
          <a:p>
            <a:pPr indent="0" marL="0">
              <a:buNone/>
            </a:pPr>
            <a:r>
              <a:rPr lang="en-US" sz="900" dirty="0">
                <a:solidFill>
                  <a:srgbClr val="B8C4D5"/>
                </a:solidFill>
                <a:latin typeface="Aptos" pitchFamily="34" charset="0"/>
                <a:ea typeface="Aptos" pitchFamily="34" charset="-122"/>
                <a:cs typeface="Aptos" pitchFamily="34" charset="-120"/>
              </a:rPr>
              <a:t>Elastic'in seasonal use case'te guclu oldugu goruluyor. Ancak benchmark ailesinin genelinde final detector daha yuksek precision, recall ve F1 uretiyor. Bu nedenle bugun icin 'yakiniz' degil, 'bu dataset'te ondeyiz' demek daha dogru.</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8111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8111F"/>
          </a:solidFill>
          <a:ln w="12700">
            <a:solidFill>
              <a:srgbClr val="08111F">
                <a:alpha val="0"/>
              </a:srgbClr>
            </a:solidFill>
            <a:prstDash val="solid"/>
          </a:ln>
        </p:spPr>
      </p:sp>
      <p:sp>
        <p:nvSpPr>
          <p:cNvPr id="3" name="Shape 1"/>
          <p:cNvSpPr/>
          <p:nvPr/>
        </p:nvSpPr>
        <p:spPr>
          <a:xfrm>
            <a:off x="502920" y="292608"/>
            <a:ext cx="11183112" cy="27432"/>
          </a:xfrm>
          <a:prstGeom prst="rect">
            <a:avLst/>
          </a:prstGeom>
          <a:solidFill>
            <a:srgbClr val="F97316"/>
          </a:solidFill>
          <a:ln w="12700">
            <a:solidFill>
              <a:srgbClr val="F97316">
                <a:alpha val="0"/>
              </a:srgbClr>
            </a:solidFill>
            <a:prstDash val="solid"/>
          </a:ln>
        </p:spPr>
      </p:sp>
      <p:sp>
        <p:nvSpPr>
          <p:cNvPr id="4" name="Text 2"/>
          <p:cNvSpPr/>
          <p:nvPr/>
        </p:nvSpPr>
        <p:spPr>
          <a:xfrm>
            <a:off x="566928" y="109728"/>
            <a:ext cx="4389120" cy="164592"/>
          </a:xfrm>
          <a:prstGeom prst="rect">
            <a:avLst/>
          </a:prstGeom>
          <a:noFill/>
          <a:ln/>
        </p:spPr>
        <p:txBody>
          <a:bodyPr wrap="square" lIns="0" tIns="0" rIns="0" bIns="0" rtlCol="0" anchor="ctr"/>
          <a:lstStyle/>
          <a:p>
            <a:pPr indent="0" marL="0">
              <a:buNone/>
            </a:pPr>
            <a:r>
              <a:rPr lang="en-US" sz="1000" b="1" dirty="0">
                <a:solidFill>
                  <a:srgbClr val="F97316"/>
                </a:solidFill>
                <a:latin typeface="Aptos" pitchFamily="34" charset="0"/>
                <a:ea typeface="Aptos" pitchFamily="34" charset="-122"/>
                <a:cs typeface="Aptos" pitchFamily="34" charset="-120"/>
              </a:rPr>
              <a:t>KAPASITE VE SOAK</a:t>
            </a:r>
            <a:endParaRPr lang="en-US" sz="1000" dirty="0"/>
          </a:p>
        </p:txBody>
      </p:sp>
      <p:sp>
        <p:nvSpPr>
          <p:cNvPr id="5" name="Text 3"/>
          <p:cNvSpPr/>
          <p:nvPr/>
        </p:nvSpPr>
        <p:spPr>
          <a:xfrm>
            <a:off x="566928" y="438912"/>
            <a:ext cx="6583680" cy="310896"/>
          </a:xfrm>
          <a:prstGeom prst="rect">
            <a:avLst/>
          </a:prstGeom>
          <a:noFill/>
          <a:ln/>
        </p:spPr>
        <p:txBody>
          <a:bodyPr wrap="square" lIns="0" tIns="0" rIns="0" bIns="0" rtlCol="0" anchor="ctr"/>
          <a:lstStyle/>
          <a:p>
            <a:pPr indent="0" marL="0">
              <a:buNone/>
            </a:pPr>
            <a:r>
              <a:rPr lang="en-US" sz="2400" b="1" dirty="0">
                <a:solidFill>
                  <a:srgbClr val="F7FAFC"/>
                </a:solidFill>
                <a:latin typeface="Aptos Display" pitchFamily="34" charset="0"/>
                <a:ea typeface="Aptos Display" pitchFamily="34" charset="-122"/>
                <a:cs typeface="Aptos Display" pitchFamily="34" charset="-120"/>
              </a:rPr>
              <a:t>Kisa operasyonel limit resmi</a:t>
            </a:r>
            <a:endParaRPr lang="en-US" sz="2400" dirty="0"/>
          </a:p>
        </p:txBody>
      </p:sp>
      <p:sp>
        <p:nvSpPr>
          <p:cNvPr id="6" name="Text 4"/>
          <p:cNvSpPr/>
          <p:nvPr/>
        </p:nvSpPr>
        <p:spPr>
          <a:xfrm>
            <a:off x="566928" y="822960"/>
            <a:ext cx="8046720" cy="292608"/>
          </a:xfrm>
          <a:prstGeom prst="rect">
            <a:avLst/>
          </a:prstGeom>
          <a:noFill/>
          <a:ln/>
        </p:spPr>
        <p:txBody>
          <a:bodyPr wrap="square" lIns="0" tIns="0" rIns="0" bIns="0" rtlCol="0" anchor="ctr"/>
          <a:lstStyle/>
          <a:p>
            <a:pPr indent="0" marL="0">
              <a:buNone/>
            </a:pPr>
            <a:r>
              <a:rPr lang="en-US" sz="1100" dirty="0">
                <a:solidFill>
                  <a:srgbClr val="B8C4D5"/>
                </a:solidFill>
                <a:latin typeface="Aptos" pitchFamily="34" charset="0"/>
                <a:ea typeface="Aptos" pitchFamily="34" charset="-122"/>
                <a:cs typeface="Aptos" pitchFamily="34" charset="-120"/>
              </a:rPr>
              <a:t>Bu slayt short soak ve scale testlerini ayni yerde ozetler.</a:t>
            </a:r>
            <a:endParaRPr lang="en-US" sz="1100" dirty="0"/>
          </a:p>
        </p:txBody>
      </p:sp>
      <p:sp>
        <p:nvSpPr>
          <p:cNvPr id="7" name="Text 5"/>
          <p:cNvSpPr/>
          <p:nvPr/>
        </p:nvSpPr>
        <p:spPr>
          <a:xfrm>
            <a:off x="566928" y="6510528"/>
            <a:ext cx="5120640" cy="146304"/>
          </a:xfrm>
          <a:prstGeom prst="rect">
            <a:avLst/>
          </a:prstGeom>
          <a:noFill/>
          <a:ln/>
        </p:spPr>
        <p:txBody>
          <a:bodyPr wrap="square" lIns="0" tIns="0" rIns="0" bIns="0" rtlCol="0" anchor="ctr"/>
          <a:lstStyle/>
          <a:p>
            <a:pPr indent="0" marL="0">
              <a:buNone/>
            </a:pPr>
            <a:r>
              <a:rPr lang="en-US" sz="800" dirty="0">
                <a:solidFill>
                  <a:srgbClr val="7D8CA2"/>
                </a:solidFill>
                <a:latin typeface="Aptos" pitchFamily="34" charset="0"/>
                <a:ea typeface="Aptos" pitchFamily="34" charset="-122"/>
                <a:cs typeface="Aptos" pitchFamily="34" charset="-120"/>
              </a:rPr>
              <a:t>Grafana Anomaly Detector | Final benchmark revizyonu</a:t>
            </a:r>
            <a:endParaRPr lang="en-US" sz="800" dirty="0"/>
          </a:p>
        </p:txBody>
      </p:sp>
      <p:sp>
        <p:nvSpPr>
          <p:cNvPr id="8" name="Text 6"/>
          <p:cNvSpPr/>
          <p:nvPr/>
        </p:nvSpPr>
        <p:spPr>
          <a:xfrm>
            <a:off x="11247120" y="6473952"/>
            <a:ext cx="365760" cy="182880"/>
          </a:xfrm>
          <a:prstGeom prst="rect">
            <a:avLst/>
          </a:prstGeom>
          <a:noFill/>
          <a:ln/>
        </p:spPr>
        <p:txBody>
          <a:bodyPr wrap="square" lIns="0" tIns="0" rIns="0" bIns="0" rtlCol="0" anchor="ctr"/>
          <a:lstStyle/>
          <a:p>
            <a:pPr algn="r" indent="0" marL="0">
              <a:buNone/>
            </a:pPr>
            <a:r>
              <a:rPr lang="en-US" sz="800" dirty="0">
                <a:solidFill>
                  <a:srgbClr val="7D8CA2"/>
                </a:solidFill>
                <a:latin typeface="Aptos" pitchFamily="34" charset="0"/>
                <a:ea typeface="Aptos" pitchFamily="34" charset="-122"/>
                <a:cs typeface="Aptos" pitchFamily="34" charset="-120"/>
              </a:rPr>
              <a:t>7</a:t>
            </a:r>
            <a:endParaRPr lang="en-US" sz="800" dirty="0"/>
          </a:p>
        </p:txBody>
      </p:sp>
      <p:graphicFrame>
        <p:nvGraphicFramePr>
          <p:cNvPr id="9" name="Chart 0" descr=""/>
          <p:cNvGraphicFramePr/>
          <p:nvPr/>
        </p:nvGraphicFramePr>
        <p:xfrm>
          <a:off x="694944" y="1417320"/>
          <a:ext cx="5760720" cy="4343400"/>
        </p:xfrm>
        <a:graphic xmlns:a="http://schemas.openxmlformats.org/drawingml/2006/main">
          <a:graphicData uri="http://schemas.openxmlformats.org/drawingml/2006/chart">
            <c:chart xmlns:c="http://schemas.openxmlformats.org/drawingml/2006/chart" r:id="rId1"/>
          </a:graphicData>
        </a:graphic>
      </p:graphicFrame>
      <p:sp>
        <p:nvSpPr>
          <p:cNvPr id="10" name="Shape 7"/>
          <p:cNvSpPr/>
          <p:nvPr/>
        </p:nvSpPr>
        <p:spPr>
          <a:xfrm>
            <a:off x="6903720" y="1417320"/>
            <a:ext cx="1417320" cy="987552"/>
          </a:xfrm>
          <a:prstGeom prst="roundRect">
            <a:avLst>
              <a:gd name="adj" fmla="val 7407"/>
            </a:avLst>
          </a:prstGeom>
          <a:solidFill>
            <a:srgbClr val="0F1A2B"/>
          </a:solidFill>
          <a:ln w="12700">
            <a:solidFill>
              <a:srgbClr val="22314B"/>
            </a:solidFill>
            <a:prstDash val="solid"/>
          </a:ln>
          <a:effectLst>
            <a:outerShdw sx="100000" sy="100000" kx="0" ky="0" algn="bl" rotWithShape="0" blurRad="25400" dist="12700" dir="2700000">
              <a:srgbClr val="000000">
                <a:alpha val="20000"/>
              </a:srgbClr>
            </a:outerShdw>
          </a:effectLst>
        </p:spPr>
      </p:sp>
      <p:sp>
        <p:nvSpPr>
          <p:cNvPr id="11" name="Text 8"/>
          <p:cNvSpPr/>
          <p:nvPr/>
        </p:nvSpPr>
        <p:spPr>
          <a:xfrm>
            <a:off x="7068312" y="1545336"/>
            <a:ext cx="1088136" cy="164592"/>
          </a:xfrm>
          <a:prstGeom prst="rect">
            <a:avLst/>
          </a:prstGeom>
          <a:noFill/>
          <a:ln/>
        </p:spPr>
        <p:txBody>
          <a:bodyPr wrap="square" lIns="0" tIns="0" rIns="0" bIns="0" rtlCol="0" anchor="ctr"/>
          <a:lstStyle/>
          <a:p>
            <a:pPr indent="0" marL="0">
              <a:buNone/>
            </a:pPr>
            <a:r>
              <a:rPr lang="en-US" sz="900" b="1" dirty="0">
                <a:solidFill>
                  <a:srgbClr val="B8C4D5"/>
                </a:solidFill>
                <a:latin typeface="Aptos" pitchFamily="34" charset="0"/>
                <a:ea typeface="Aptos" pitchFamily="34" charset="-122"/>
                <a:cs typeface="Aptos" pitchFamily="34" charset="-120"/>
              </a:rPr>
              <a:t>300 detector</a:t>
            </a:r>
            <a:endParaRPr lang="en-US" sz="900" dirty="0"/>
          </a:p>
        </p:txBody>
      </p:sp>
      <p:sp>
        <p:nvSpPr>
          <p:cNvPr id="12" name="Text 9"/>
          <p:cNvSpPr/>
          <p:nvPr/>
        </p:nvSpPr>
        <p:spPr>
          <a:xfrm>
            <a:off x="7068312" y="1764792"/>
            <a:ext cx="1088136" cy="274320"/>
          </a:xfrm>
          <a:prstGeom prst="rect">
            <a:avLst/>
          </a:prstGeom>
          <a:noFill/>
          <a:ln/>
        </p:spPr>
        <p:txBody>
          <a:bodyPr wrap="square" lIns="0" tIns="0" rIns="0" bIns="0" rtlCol="0" anchor="ctr"/>
          <a:lstStyle/>
          <a:p>
            <a:pPr indent="0" marL="0">
              <a:buNone/>
            </a:pPr>
            <a:r>
              <a:rPr lang="en-US" sz="1900" b="1" dirty="0">
                <a:solidFill>
                  <a:srgbClr val="22C55E"/>
                </a:solidFill>
                <a:latin typeface="Aptos Display" pitchFamily="34" charset="0"/>
                <a:ea typeface="Aptos Display" pitchFamily="34" charset="-122"/>
                <a:cs typeface="Aptos Display" pitchFamily="34" charset="-120"/>
              </a:rPr>
              <a:t>PASS</a:t>
            </a:r>
            <a:endParaRPr lang="en-US" sz="1900" dirty="0"/>
          </a:p>
        </p:txBody>
      </p:sp>
      <p:sp>
        <p:nvSpPr>
          <p:cNvPr id="13" name="Text 10"/>
          <p:cNvSpPr/>
          <p:nvPr/>
        </p:nvSpPr>
        <p:spPr>
          <a:xfrm>
            <a:off x="7068312" y="2112264"/>
            <a:ext cx="1088136" cy="182880"/>
          </a:xfrm>
          <a:prstGeom prst="rect">
            <a:avLst/>
          </a:prstGeom>
          <a:noFill/>
          <a:ln/>
        </p:spPr>
        <p:txBody>
          <a:bodyPr wrap="square" lIns="0" tIns="0" rIns="0" bIns="0" rtlCol="0" anchor="t"/>
          <a:lstStyle/>
          <a:p>
            <a:pPr indent="0" marL="0">
              <a:buNone/>
            </a:pPr>
            <a:r>
              <a:rPr lang="en-US" sz="900" dirty="0">
                <a:solidFill>
                  <a:srgbClr val="B8C4D5"/>
                </a:solidFill>
                <a:latin typeface="Aptos" pitchFamily="34" charset="0"/>
                <a:ea typeface="Aptos" pitchFamily="34" charset="-122"/>
                <a:cs typeface="Aptos" pitchFamily="34" charset="-120"/>
              </a:rPr>
              <a:t>Ortalama eval 0.76s</a:t>
            </a:r>
            <a:endParaRPr lang="en-US" sz="900" dirty="0"/>
          </a:p>
        </p:txBody>
      </p:sp>
      <p:sp>
        <p:nvSpPr>
          <p:cNvPr id="14" name="Shape 11"/>
          <p:cNvSpPr/>
          <p:nvPr/>
        </p:nvSpPr>
        <p:spPr>
          <a:xfrm>
            <a:off x="8485632" y="1417320"/>
            <a:ext cx="1417320" cy="987552"/>
          </a:xfrm>
          <a:prstGeom prst="roundRect">
            <a:avLst>
              <a:gd name="adj" fmla="val 7407"/>
            </a:avLst>
          </a:prstGeom>
          <a:solidFill>
            <a:srgbClr val="0F1A2B"/>
          </a:solidFill>
          <a:ln w="12700">
            <a:solidFill>
              <a:srgbClr val="22314B"/>
            </a:solidFill>
            <a:prstDash val="solid"/>
          </a:ln>
          <a:effectLst>
            <a:outerShdw sx="100000" sy="100000" kx="0" ky="0" algn="bl" rotWithShape="0" blurRad="25400" dist="12700" dir="2700000">
              <a:srgbClr val="000000">
                <a:alpha val="20000"/>
              </a:srgbClr>
            </a:outerShdw>
          </a:effectLst>
        </p:spPr>
      </p:sp>
      <p:sp>
        <p:nvSpPr>
          <p:cNvPr id="15" name="Text 12"/>
          <p:cNvSpPr/>
          <p:nvPr/>
        </p:nvSpPr>
        <p:spPr>
          <a:xfrm>
            <a:off x="8650224" y="1545336"/>
            <a:ext cx="1088136" cy="164592"/>
          </a:xfrm>
          <a:prstGeom prst="rect">
            <a:avLst/>
          </a:prstGeom>
          <a:noFill/>
          <a:ln/>
        </p:spPr>
        <p:txBody>
          <a:bodyPr wrap="square" lIns="0" tIns="0" rIns="0" bIns="0" rtlCol="0" anchor="ctr"/>
          <a:lstStyle/>
          <a:p>
            <a:pPr indent="0" marL="0">
              <a:buNone/>
            </a:pPr>
            <a:r>
              <a:rPr lang="en-US" sz="900" b="1" dirty="0">
                <a:solidFill>
                  <a:srgbClr val="B8C4D5"/>
                </a:solidFill>
                <a:latin typeface="Aptos" pitchFamily="34" charset="0"/>
                <a:ea typeface="Aptos" pitchFamily="34" charset="-122"/>
                <a:cs typeface="Aptos" pitchFamily="34" charset="-120"/>
              </a:rPr>
              <a:t>350 detector</a:t>
            </a:r>
            <a:endParaRPr lang="en-US" sz="900" dirty="0"/>
          </a:p>
        </p:txBody>
      </p:sp>
      <p:sp>
        <p:nvSpPr>
          <p:cNvPr id="16" name="Text 13"/>
          <p:cNvSpPr/>
          <p:nvPr/>
        </p:nvSpPr>
        <p:spPr>
          <a:xfrm>
            <a:off x="8650224" y="1764792"/>
            <a:ext cx="1088136" cy="274320"/>
          </a:xfrm>
          <a:prstGeom prst="rect">
            <a:avLst/>
          </a:prstGeom>
          <a:noFill/>
          <a:ln/>
        </p:spPr>
        <p:txBody>
          <a:bodyPr wrap="square" lIns="0" tIns="0" rIns="0" bIns="0" rtlCol="0" anchor="ctr"/>
          <a:lstStyle/>
          <a:p>
            <a:pPr indent="0" marL="0">
              <a:buNone/>
            </a:pPr>
            <a:r>
              <a:rPr lang="en-US" sz="1900" b="1" dirty="0">
                <a:solidFill>
                  <a:srgbClr val="22C55E"/>
                </a:solidFill>
                <a:latin typeface="Aptos Display" pitchFamily="34" charset="0"/>
                <a:ea typeface="Aptos Display" pitchFamily="34" charset="-122"/>
                <a:cs typeface="Aptos Display" pitchFamily="34" charset="-120"/>
              </a:rPr>
              <a:t>PASS</a:t>
            </a:r>
            <a:endParaRPr lang="en-US" sz="1900" dirty="0"/>
          </a:p>
        </p:txBody>
      </p:sp>
      <p:sp>
        <p:nvSpPr>
          <p:cNvPr id="17" name="Text 14"/>
          <p:cNvSpPr/>
          <p:nvPr/>
        </p:nvSpPr>
        <p:spPr>
          <a:xfrm>
            <a:off x="8650224" y="2112264"/>
            <a:ext cx="1088136" cy="182880"/>
          </a:xfrm>
          <a:prstGeom prst="rect">
            <a:avLst/>
          </a:prstGeom>
          <a:noFill/>
          <a:ln/>
        </p:spPr>
        <p:txBody>
          <a:bodyPr wrap="square" lIns="0" tIns="0" rIns="0" bIns="0" rtlCol="0" anchor="t"/>
          <a:lstStyle/>
          <a:p>
            <a:pPr indent="0" marL="0">
              <a:buNone/>
            </a:pPr>
            <a:r>
              <a:rPr lang="en-US" sz="900" dirty="0">
                <a:solidFill>
                  <a:srgbClr val="B8C4D5"/>
                </a:solidFill>
                <a:latin typeface="Aptos" pitchFamily="34" charset="0"/>
                <a:ea typeface="Aptos" pitchFamily="34" charset="-122"/>
                <a:cs typeface="Aptos" pitchFamily="34" charset="-120"/>
              </a:rPr>
              <a:t>Ortalama eval 0.87s</a:t>
            </a:r>
            <a:endParaRPr lang="en-US" sz="900" dirty="0"/>
          </a:p>
        </p:txBody>
      </p:sp>
      <p:sp>
        <p:nvSpPr>
          <p:cNvPr id="18" name="Shape 15"/>
          <p:cNvSpPr/>
          <p:nvPr/>
        </p:nvSpPr>
        <p:spPr>
          <a:xfrm>
            <a:off x="10067544" y="1417320"/>
            <a:ext cx="1417320" cy="987552"/>
          </a:xfrm>
          <a:prstGeom prst="roundRect">
            <a:avLst>
              <a:gd name="adj" fmla="val 7407"/>
            </a:avLst>
          </a:prstGeom>
          <a:solidFill>
            <a:srgbClr val="0F1A2B"/>
          </a:solidFill>
          <a:ln w="12700">
            <a:solidFill>
              <a:srgbClr val="22314B"/>
            </a:solidFill>
            <a:prstDash val="solid"/>
          </a:ln>
          <a:effectLst>
            <a:outerShdw sx="100000" sy="100000" kx="0" ky="0" algn="bl" rotWithShape="0" blurRad="25400" dist="12700" dir="2700000">
              <a:srgbClr val="000000">
                <a:alpha val="20000"/>
              </a:srgbClr>
            </a:outerShdw>
          </a:effectLst>
        </p:spPr>
      </p:sp>
      <p:sp>
        <p:nvSpPr>
          <p:cNvPr id="19" name="Text 16"/>
          <p:cNvSpPr/>
          <p:nvPr/>
        </p:nvSpPr>
        <p:spPr>
          <a:xfrm>
            <a:off x="10232136" y="1545336"/>
            <a:ext cx="1088136" cy="164592"/>
          </a:xfrm>
          <a:prstGeom prst="rect">
            <a:avLst/>
          </a:prstGeom>
          <a:noFill/>
          <a:ln/>
        </p:spPr>
        <p:txBody>
          <a:bodyPr wrap="square" lIns="0" tIns="0" rIns="0" bIns="0" rtlCol="0" anchor="ctr"/>
          <a:lstStyle/>
          <a:p>
            <a:pPr indent="0" marL="0">
              <a:buNone/>
            </a:pPr>
            <a:r>
              <a:rPr lang="en-US" sz="900" b="1" dirty="0">
                <a:solidFill>
                  <a:srgbClr val="B8C4D5"/>
                </a:solidFill>
                <a:latin typeface="Aptos" pitchFamily="34" charset="0"/>
                <a:ea typeface="Aptos" pitchFamily="34" charset="-122"/>
                <a:cs typeface="Aptos" pitchFamily="34" charset="-120"/>
              </a:rPr>
              <a:t>400 detector</a:t>
            </a:r>
            <a:endParaRPr lang="en-US" sz="900" dirty="0"/>
          </a:p>
        </p:txBody>
      </p:sp>
      <p:sp>
        <p:nvSpPr>
          <p:cNvPr id="20" name="Text 17"/>
          <p:cNvSpPr/>
          <p:nvPr/>
        </p:nvSpPr>
        <p:spPr>
          <a:xfrm>
            <a:off x="10232136" y="1764792"/>
            <a:ext cx="1088136" cy="274320"/>
          </a:xfrm>
          <a:prstGeom prst="rect">
            <a:avLst/>
          </a:prstGeom>
          <a:noFill/>
          <a:ln/>
        </p:spPr>
        <p:txBody>
          <a:bodyPr wrap="square" lIns="0" tIns="0" rIns="0" bIns="0" rtlCol="0" anchor="ctr"/>
          <a:lstStyle/>
          <a:p>
            <a:pPr indent="0" marL="0">
              <a:buNone/>
            </a:pPr>
            <a:r>
              <a:rPr lang="en-US" sz="1900" b="1" dirty="0">
                <a:solidFill>
                  <a:srgbClr val="F97316"/>
                </a:solidFill>
                <a:latin typeface="Aptos Display" pitchFamily="34" charset="0"/>
                <a:ea typeface="Aptos Display" pitchFamily="34" charset="-122"/>
                <a:cs typeface="Aptos Display" pitchFamily="34" charset="-120"/>
              </a:rPr>
              <a:t>PASS</a:t>
            </a:r>
            <a:endParaRPr lang="en-US" sz="1900" dirty="0"/>
          </a:p>
        </p:txBody>
      </p:sp>
      <p:sp>
        <p:nvSpPr>
          <p:cNvPr id="21" name="Text 18"/>
          <p:cNvSpPr/>
          <p:nvPr/>
        </p:nvSpPr>
        <p:spPr>
          <a:xfrm>
            <a:off x="10232136" y="2112264"/>
            <a:ext cx="1088136" cy="182880"/>
          </a:xfrm>
          <a:prstGeom prst="rect">
            <a:avLst/>
          </a:prstGeom>
          <a:noFill/>
          <a:ln/>
        </p:spPr>
        <p:txBody>
          <a:bodyPr wrap="square" lIns="0" tIns="0" rIns="0" bIns="0" rtlCol="0" anchor="t"/>
          <a:lstStyle/>
          <a:p>
            <a:pPr indent="0" marL="0">
              <a:buNone/>
            </a:pPr>
            <a:r>
              <a:rPr lang="en-US" sz="900" dirty="0">
                <a:solidFill>
                  <a:srgbClr val="B8C4D5"/>
                </a:solidFill>
                <a:latin typeface="Aptos" pitchFamily="34" charset="0"/>
                <a:ea typeface="Aptos" pitchFamily="34" charset="-122"/>
                <a:cs typeface="Aptos" pitchFamily="34" charset="-120"/>
              </a:rPr>
              <a:t>Ortalama eval 1.09s</a:t>
            </a:r>
            <a:endParaRPr lang="en-US" sz="900" dirty="0"/>
          </a:p>
        </p:txBody>
      </p:sp>
      <p:sp>
        <p:nvSpPr>
          <p:cNvPr id="22" name="Shape 19"/>
          <p:cNvSpPr/>
          <p:nvPr/>
        </p:nvSpPr>
        <p:spPr>
          <a:xfrm>
            <a:off x="6903720" y="2743200"/>
            <a:ext cx="4581144" cy="1078992"/>
          </a:xfrm>
          <a:prstGeom prst="roundRect">
            <a:avLst>
              <a:gd name="adj" fmla="val 6780"/>
            </a:avLst>
          </a:prstGeom>
          <a:solidFill>
            <a:srgbClr val="122038"/>
          </a:solidFill>
          <a:ln w="12700">
            <a:solidFill>
              <a:srgbClr val="22314B"/>
            </a:solidFill>
            <a:prstDash val="solid"/>
          </a:ln>
          <a:effectLst>
            <a:outerShdw sx="100000" sy="100000" kx="0" ky="0" algn="bl" rotWithShape="0" blurRad="25400" dist="12700" dir="2700000">
              <a:srgbClr val="000000">
                <a:alpha val="20000"/>
              </a:srgbClr>
            </a:outerShdw>
          </a:effectLst>
        </p:spPr>
      </p:sp>
      <p:sp>
        <p:nvSpPr>
          <p:cNvPr id="23" name="Shape 20"/>
          <p:cNvSpPr/>
          <p:nvPr/>
        </p:nvSpPr>
        <p:spPr>
          <a:xfrm>
            <a:off x="7050024" y="2889504"/>
            <a:ext cx="73152" cy="786384"/>
          </a:xfrm>
          <a:prstGeom prst="roundRect">
            <a:avLst>
              <a:gd name="adj" fmla="val 25000"/>
            </a:avLst>
          </a:prstGeom>
          <a:solidFill>
            <a:srgbClr val="38BDF8"/>
          </a:solidFill>
          <a:ln w="12700">
            <a:solidFill>
              <a:srgbClr val="38BDF8">
                <a:alpha val="0"/>
              </a:srgbClr>
            </a:solidFill>
            <a:prstDash val="solid"/>
          </a:ln>
        </p:spPr>
      </p:sp>
      <p:sp>
        <p:nvSpPr>
          <p:cNvPr id="24" name="Text 21"/>
          <p:cNvSpPr/>
          <p:nvPr/>
        </p:nvSpPr>
        <p:spPr>
          <a:xfrm>
            <a:off x="7196328" y="2889504"/>
            <a:ext cx="4142232" cy="201168"/>
          </a:xfrm>
          <a:prstGeom prst="rect">
            <a:avLst/>
          </a:prstGeom>
          <a:noFill/>
          <a:ln/>
        </p:spPr>
        <p:txBody>
          <a:bodyPr wrap="square" lIns="0" tIns="0" rIns="0" bIns="0" rtlCol="0" anchor="ctr"/>
          <a:lstStyle/>
          <a:p>
            <a:pPr indent="0" marL="0">
              <a:buNone/>
            </a:pPr>
            <a:r>
              <a:rPr lang="en-US" sz="1100" b="1" dirty="0">
                <a:solidFill>
                  <a:srgbClr val="F7FAFC"/>
                </a:solidFill>
                <a:latin typeface="Aptos" pitchFamily="34" charset="0"/>
                <a:ea typeface="Aptos" pitchFamily="34" charset="-122"/>
                <a:cs typeface="Aptos" pitchFamily="34" charset="-120"/>
              </a:rPr>
              <a:t>Short soak sonucu</a:t>
            </a:r>
            <a:endParaRPr lang="en-US" sz="1100" dirty="0"/>
          </a:p>
        </p:txBody>
      </p:sp>
      <p:sp>
        <p:nvSpPr>
          <p:cNvPr id="25" name="Text 22"/>
          <p:cNvSpPr/>
          <p:nvPr/>
        </p:nvSpPr>
        <p:spPr>
          <a:xfrm>
            <a:off x="7196328" y="3127248"/>
            <a:ext cx="4142232" cy="585216"/>
          </a:xfrm>
          <a:prstGeom prst="rect">
            <a:avLst/>
          </a:prstGeom>
          <a:noFill/>
          <a:ln/>
        </p:spPr>
        <p:txBody>
          <a:bodyPr wrap="square" lIns="0" tIns="0" rIns="0" bIns="0" rtlCol="0" anchor="t"/>
          <a:lstStyle/>
          <a:p>
            <a:pPr indent="0" marL="0">
              <a:buNone/>
            </a:pPr>
            <a:r>
              <a:rPr lang="en-US" sz="900" dirty="0">
                <a:solidFill>
                  <a:srgbClr val="B8C4D5"/>
                </a:solidFill>
                <a:latin typeface="Aptos" pitchFamily="34" charset="0"/>
                <a:ea typeface="Aptos" pitchFamily="34" charset="-122"/>
                <a:cs typeface="Aptos" pitchFamily="34" charset="-120"/>
              </a:rPr>
              <a:t>Dashboard check, render check ve alert-ready query birlikte acikken 300, 350 ve 400 detector seviyeleri 75 saniyelik smoke testte temiz gecti.</a:t>
            </a:r>
            <a:endParaRPr lang="en-US" sz="900" dirty="0"/>
          </a:p>
        </p:txBody>
      </p:sp>
      <p:sp>
        <p:nvSpPr>
          <p:cNvPr id="26" name="Shape 23"/>
          <p:cNvSpPr/>
          <p:nvPr/>
        </p:nvSpPr>
        <p:spPr>
          <a:xfrm>
            <a:off x="6903720" y="4041648"/>
            <a:ext cx="4581144" cy="1078992"/>
          </a:xfrm>
          <a:prstGeom prst="roundRect">
            <a:avLst>
              <a:gd name="adj" fmla="val 6780"/>
            </a:avLst>
          </a:prstGeom>
          <a:solidFill>
            <a:srgbClr val="122038"/>
          </a:solidFill>
          <a:ln w="12700">
            <a:solidFill>
              <a:srgbClr val="22314B"/>
            </a:solidFill>
            <a:prstDash val="solid"/>
          </a:ln>
          <a:effectLst>
            <a:outerShdw sx="100000" sy="100000" kx="0" ky="0" algn="bl" rotWithShape="0" blurRad="25400" dist="12700" dir="2700000">
              <a:srgbClr val="000000">
                <a:alpha val="20000"/>
              </a:srgbClr>
            </a:outerShdw>
          </a:effectLst>
        </p:spPr>
      </p:sp>
      <p:sp>
        <p:nvSpPr>
          <p:cNvPr id="27" name="Shape 24"/>
          <p:cNvSpPr/>
          <p:nvPr/>
        </p:nvSpPr>
        <p:spPr>
          <a:xfrm>
            <a:off x="7050024" y="4187952"/>
            <a:ext cx="73152" cy="786384"/>
          </a:xfrm>
          <a:prstGeom prst="roundRect">
            <a:avLst>
              <a:gd name="adj" fmla="val 25000"/>
            </a:avLst>
          </a:prstGeom>
          <a:solidFill>
            <a:srgbClr val="F59E0B"/>
          </a:solidFill>
          <a:ln w="12700">
            <a:solidFill>
              <a:srgbClr val="F59E0B">
                <a:alpha val="0"/>
              </a:srgbClr>
            </a:solidFill>
            <a:prstDash val="solid"/>
          </a:ln>
        </p:spPr>
      </p:sp>
      <p:sp>
        <p:nvSpPr>
          <p:cNvPr id="28" name="Text 25"/>
          <p:cNvSpPr/>
          <p:nvPr/>
        </p:nvSpPr>
        <p:spPr>
          <a:xfrm>
            <a:off x="7196328" y="4187952"/>
            <a:ext cx="4142232" cy="201168"/>
          </a:xfrm>
          <a:prstGeom prst="rect">
            <a:avLst/>
          </a:prstGeom>
          <a:noFill/>
          <a:ln/>
        </p:spPr>
        <p:txBody>
          <a:bodyPr wrap="square" lIns="0" tIns="0" rIns="0" bIns="0" rtlCol="0" anchor="ctr"/>
          <a:lstStyle/>
          <a:p>
            <a:pPr indent="0" marL="0">
              <a:buNone/>
            </a:pPr>
            <a:r>
              <a:rPr lang="en-US" sz="1100" b="1" dirty="0">
                <a:solidFill>
                  <a:srgbClr val="F7FAFC"/>
                </a:solidFill>
                <a:latin typeface="Aptos" pitchFamily="34" charset="0"/>
                <a:ea typeface="Aptos" pitchFamily="34" charset="-122"/>
                <a:cs typeface="Aptos" pitchFamily="34" charset="-120"/>
              </a:rPr>
              <a:t>Ne demiyoruz?</a:t>
            </a:r>
            <a:endParaRPr lang="en-US" sz="1100" dirty="0"/>
          </a:p>
        </p:txBody>
      </p:sp>
      <p:sp>
        <p:nvSpPr>
          <p:cNvPr id="29" name="Text 26"/>
          <p:cNvSpPr/>
          <p:nvPr/>
        </p:nvSpPr>
        <p:spPr>
          <a:xfrm>
            <a:off x="7196328" y="4425696"/>
            <a:ext cx="4142232" cy="585216"/>
          </a:xfrm>
          <a:prstGeom prst="rect">
            <a:avLst/>
          </a:prstGeom>
          <a:noFill/>
          <a:ln/>
        </p:spPr>
        <p:txBody>
          <a:bodyPr wrap="square" lIns="0" tIns="0" rIns="0" bIns="0" rtlCol="0" anchor="t"/>
          <a:lstStyle/>
          <a:p>
            <a:pPr indent="0" marL="0">
              <a:buNone/>
            </a:pPr>
            <a:r>
              <a:rPr lang="en-US" sz="900" dirty="0">
                <a:solidFill>
                  <a:srgbClr val="B8C4D5"/>
                </a:solidFill>
                <a:latin typeface="Aptos" pitchFamily="34" charset="0"/>
                <a:ea typeface="Aptos" pitchFamily="34" charset="-122"/>
                <a:cs typeface="Aptos" pitchFamily="34" charset="-120"/>
              </a:rPr>
              <a:t>Bu sonuc 'prod ceiling kesin 400' demek degil. Dogru cikarim su: 400 seviyesi kisa smoke'ta temiz; kalici ceiling icin uzun soak gerekli.</a:t>
            </a:r>
            <a:endParaRPr lang="en-US" sz="900" dirty="0"/>
          </a:p>
        </p:txBody>
      </p:sp>
      <p:sp>
        <p:nvSpPr>
          <p:cNvPr id="30" name="Shape 27"/>
          <p:cNvSpPr/>
          <p:nvPr/>
        </p:nvSpPr>
        <p:spPr>
          <a:xfrm>
            <a:off x="6903720" y="5340096"/>
            <a:ext cx="4581144" cy="694944"/>
          </a:xfrm>
          <a:prstGeom prst="roundRect">
            <a:avLst>
              <a:gd name="adj" fmla="val 10526"/>
            </a:avLst>
          </a:prstGeom>
          <a:solidFill>
            <a:srgbClr val="122038"/>
          </a:solidFill>
          <a:ln w="12700">
            <a:solidFill>
              <a:srgbClr val="22314B"/>
            </a:solidFill>
            <a:prstDash val="solid"/>
          </a:ln>
          <a:effectLst>
            <a:outerShdw sx="100000" sy="100000" kx="0" ky="0" algn="bl" rotWithShape="0" blurRad="25400" dist="12700" dir="2700000">
              <a:srgbClr val="000000">
                <a:alpha val="20000"/>
              </a:srgbClr>
            </a:outerShdw>
          </a:effectLst>
        </p:spPr>
      </p:sp>
      <p:sp>
        <p:nvSpPr>
          <p:cNvPr id="31" name="Shape 28"/>
          <p:cNvSpPr/>
          <p:nvPr/>
        </p:nvSpPr>
        <p:spPr>
          <a:xfrm>
            <a:off x="7050024" y="5486400"/>
            <a:ext cx="73152" cy="402336"/>
          </a:xfrm>
          <a:prstGeom prst="roundRect">
            <a:avLst>
              <a:gd name="adj" fmla="val 25000"/>
            </a:avLst>
          </a:prstGeom>
          <a:solidFill>
            <a:srgbClr val="22C55E"/>
          </a:solidFill>
          <a:ln w="12700">
            <a:solidFill>
              <a:srgbClr val="22C55E">
                <a:alpha val="0"/>
              </a:srgbClr>
            </a:solidFill>
            <a:prstDash val="solid"/>
          </a:ln>
        </p:spPr>
      </p:sp>
      <p:sp>
        <p:nvSpPr>
          <p:cNvPr id="32" name="Text 29"/>
          <p:cNvSpPr/>
          <p:nvPr/>
        </p:nvSpPr>
        <p:spPr>
          <a:xfrm>
            <a:off x="7196328" y="5486400"/>
            <a:ext cx="4142232" cy="201168"/>
          </a:xfrm>
          <a:prstGeom prst="rect">
            <a:avLst/>
          </a:prstGeom>
          <a:noFill/>
          <a:ln/>
        </p:spPr>
        <p:txBody>
          <a:bodyPr wrap="square" lIns="0" tIns="0" rIns="0" bIns="0" rtlCol="0" anchor="ctr"/>
          <a:lstStyle/>
          <a:p>
            <a:pPr indent="0" marL="0">
              <a:buNone/>
            </a:pPr>
            <a:r>
              <a:rPr lang="en-US" sz="1100" b="1" dirty="0">
                <a:solidFill>
                  <a:srgbClr val="F7FAFC"/>
                </a:solidFill>
                <a:latin typeface="Aptos" pitchFamily="34" charset="0"/>
                <a:ea typeface="Aptos" pitchFamily="34" charset="-122"/>
                <a:cs typeface="Aptos" pitchFamily="34" charset="-120"/>
              </a:rPr>
              <a:t>Operasyon onerisi</a:t>
            </a:r>
            <a:endParaRPr lang="en-US" sz="1100" dirty="0"/>
          </a:p>
        </p:txBody>
      </p:sp>
      <p:sp>
        <p:nvSpPr>
          <p:cNvPr id="33" name="Text 30"/>
          <p:cNvSpPr/>
          <p:nvPr/>
        </p:nvSpPr>
        <p:spPr>
          <a:xfrm>
            <a:off x="7196328" y="5724144"/>
            <a:ext cx="4142232" cy="201168"/>
          </a:xfrm>
          <a:prstGeom prst="rect">
            <a:avLst/>
          </a:prstGeom>
          <a:noFill/>
          <a:ln/>
        </p:spPr>
        <p:txBody>
          <a:bodyPr wrap="square" lIns="0" tIns="0" rIns="0" bIns="0" rtlCol="0" anchor="t"/>
          <a:lstStyle/>
          <a:p>
            <a:pPr indent="0" marL="0">
              <a:buNone/>
            </a:pPr>
            <a:r>
              <a:rPr lang="en-US" sz="900" dirty="0">
                <a:solidFill>
                  <a:srgbClr val="B8C4D5"/>
                </a:solidFill>
                <a:latin typeface="Aptos" pitchFamily="34" charset="0"/>
                <a:ea typeface="Aptos" pitchFamily="34" charset="-122"/>
                <a:cs typeface="Aptos" pitchFamily="34" charset="-120"/>
              </a:rPr>
              <a:t>Kisa vadede 350-400 araligi guvenli planlama bandi olarak alinabilir.</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8111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8111F"/>
          </a:solidFill>
          <a:ln w="12700">
            <a:solidFill>
              <a:srgbClr val="08111F">
                <a:alpha val="0"/>
              </a:srgbClr>
            </a:solidFill>
            <a:prstDash val="solid"/>
          </a:ln>
        </p:spPr>
      </p:sp>
      <p:sp>
        <p:nvSpPr>
          <p:cNvPr id="3" name="Shape 1"/>
          <p:cNvSpPr/>
          <p:nvPr/>
        </p:nvSpPr>
        <p:spPr>
          <a:xfrm>
            <a:off x="502920" y="292608"/>
            <a:ext cx="11183112" cy="27432"/>
          </a:xfrm>
          <a:prstGeom prst="rect">
            <a:avLst/>
          </a:prstGeom>
          <a:solidFill>
            <a:srgbClr val="F97316"/>
          </a:solidFill>
          <a:ln w="12700">
            <a:solidFill>
              <a:srgbClr val="F97316">
                <a:alpha val="0"/>
              </a:srgbClr>
            </a:solidFill>
            <a:prstDash val="solid"/>
          </a:ln>
        </p:spPr>
      </p:sp>
      <p:sp>
        <p:nvSpPr>
          <p:cNvPr id="4" name="Text 2"/>
          <p:cNvSpPr/>
          <p:nvPr/>
        </p:nvSpPr>
        <p:spPr>
          <a:xfrm>
            <a:off x="566928" y="109728"/>
            <a:ext cx="4389120" cy="164592"/>
          </a:xfrm>
          <a:prstGeom prst="rect">
            <a:avLst/>
          </a:prstGeom>
          <a:noFill/>
          <a:ln/>
        </p:spPr>
        <p:txBody>
          <a:bodyPr wrap="square" lIns="0" tIns="0" rIns="0" bIns="0" rtlCol="0" anchor="ctr"/>
          <a:lstStyle/>
          <a:p>
            <a:pPr indent="0" marL="0">
              <a:buNone/>
            </a:pPr>
            <a:r>
              <a:rPr lang="en-US" sz="1000" b="1" dirty="0">
                <a:solidFill>
                  <a:srgbClr val="F97316"/>
                </a:solidFill>
                <a:latin typeface="Aptos" pitchFamily="34" charset="0"/>
                <a:ea typeface="Aptos" pitchFamily="34" charset="-122"/>
                <a:cs typeface="Aptos" pitchFamily="34" charset="-120"/>
              </a:rPr>
              <a:t>SON KARAR VE SONRAKI ADIM</a:t>
            </a:r>
            <a:endParaRPr lang="en-US" sz="1000" dirty="0"/>
          </a:p>
        </p:txBody>
      </p:sp>
      <p:sp>
        <p:nvSpPr>
          <p:cNvPr id="5" name="Text 3"/>
          <p:cNvSpPr/>
          <p:nvPr/>
        </p:nvSpPr>
        <p:spPr>
          <a:xfrm>
            <a:off x="566928" y="438912"/>
            <a:ext cx="6583680" cy="310896"/>
          </a:xfrm>
          <a:prstGeom prst="rect">
            <a:avLst/>
          </a:prstGeom>
          <a:noFill/>
          <a:ln/>
        </p:spPr>
        <p:txBody>
          <a:bodyPr wrap="square" lIns="0" tIns="0" rIns="0" bIns="0" rtlCol="0" anchor="ctr"/>
          <a:lstStyle/>
          <a:p>
            <a:pPr indent="0" marL="0">
              <a:buNone/>
            </a:pPr>
            <a:r>
              <a:rPr lang="en-US" sz="2400" b="1" dirty="0">
                <a:solidFill>
                  <a:srgbClr val="F7FAFC"/>
                </a:solidFill>
                <a:latin typeface="Aptos Display" pitchFamily="34" charset="0"/>
                <a:ea typeface="Aptos Display" pitchFamily="34" charset="-122"/>
                <a:cs typeface="Aptos Display" pitchFamily="34" charset="-120"/>
              </a:rPr>
              <a:t>Bu benchmark sonunda ne soyleyebiliriz?</a:t>
            </a:r>
            <a:endParaRPr lang="en-US" sz="2400" dirty="0"/>
          </a:p>
        </p:txBody>
      </p:sp>
      <p:sp>
        <p:nvSpPr>
          <p:cNvPr id="6" name="Text 4"/>
          <p:cNvSpPr/>
          <p:nvPr/>
        </p:nvSpPr>
        <p:spPr>
          <a:xfrm>
            <a:off x="566928" y="822960"/>
            <a:ext cx="8046720" cy="292608"/>
          </a:xfrm>
          <a:prstGeom prst="rect">
            <a:avLst/>
          </a:prstGeom>
          <a:noFill/>
          <a:ln/>
        </p:spPr>
        <p:txBody>
          <a:bodyPr wrap="square" lIns="0" tIns="0" rIns="0" bIns="0" rtlCol="0" anchor="ctr"/>
          <a:lstStyle/>
          <a:p>
            <a:pPr indent="0" marL="0">
              <a:buNone/>
            </a:pPr>
            <a:r>
              <a:rPr lang="en-US" sz="1100" dirty="0">
                <a:solidFill>
                  <a:srgbClr val="B8C4D5"/>
                </a:solidFill>
                <a:latin typeface="Aptos" pitchFamily="34" charset="0"/>
                <a:ea typeface="Aptos" pitchFamily="34" charset="-122"/>
                <a:cs typeface="Aptos" pitchFamily="34" charset="-120"/>
              </a:rPr>
              <a:t>Teknik ekip ve yonetim icin karar metni ayni slaytta toplanmistir.</a:t>
            </a:r>
            <a:endParaRPr lang="en-US" sz="1100" dirty="0"/>
          </a:p>
        </p:txBody>
      </p:sp>
      <p:sp>
        <p:nvSpPr>
          <p:cNvPr id="7" name="Text 5"/>
          <p:cNvSpPr/>
          <p:nvPr/>
        </p:nvSpPr>
        <p:spPr>
          <a:xfrm>
            <a:off x="566928" y="6510528"/>
            <a:ext cx="5120640" cy="146304"/>
          </a:xfrm>
          <a:prstGeom prst="rect">
            <a:avLst/>
          </a:prstGeom>
          <a:noFill/>
          <a:ln/>
        </p:spPr>
        <p:txBody>
          <a:bodyPr wrap="square" lIns="0" tIns="0" rIns="0" bIns="0" rtlCol="0" anchor="ctr"/>
          <a:lstStyle/>
          <a:p>
            <a:pPr indent="0" marL="0">
              <a:buNone/>
            </a:pPr>
            <a:r>
              <a:rPr lang="en-US" sz="800" dirty="0">
                <a:solidFill>
                  <a:srgbClr val="7D8CA2"/>
                </a:solidFill>
                <a:latin typeface="Aptos" pitchFamily="34" charset="0"/>
                <a:ea typeface="Aptos" pitchFamily="34" charset="-122"/>
                <a:cs typeface="Aptos" pitchFamily="34" charset="-120"/>
              </a:rPr>
              <a:t>Grafana Anomaly Detector | Final benchmark revizyonu</a:t>
            </a:r>
            <a:endParaRPr lang="en-US" sz="800" dirty="0"/>
          </a:p>
        </p:txBody>
      </p:sp>
      <p:sp>
        <p:nvSpPr>
          <p:cNvPr id="8" name="Text 6"/>
          <p:cNvSpPr/>
          <p:nvPr/>
        </p:nvSpPr>
        <p:spPr>
          <a:xfrm>
            <a:off x="11247120" y="6473952"/>
            <a:ext cx="365760" cy="182880"/>
          </a:xfrm>
          <a:prstGeom prst="rect">
            <a:avLst/>
          </a:prstGeom>
          <a:noFill/>
          <a:ln/>
        </p:spPr>
        <p:txBody>
          <a:bodyPr wrap="square" lIns="0" tIns="0" rIns="0" bIns="0" rtlCol="0" anchor="ctr"/>
          <a:lstStyle/>
          <a:p>
            <a:pPr algn="r" indent="0" marL="0">
              <a:buNone/>
            </a:pPr>
            <a:r>
              <a:rPr lang="en-US" sz="800" dirty="0">
                <a:solidFill>
                  <a:srgbClr val="7D8CA2"/>
                </a:solidFill>
                <a:latin typeface="Aptos" pitchFamily="34" charset="0"/>
                <a:ea typeface="Aptos" pitchFamily="34" charset="-122"/>
                <a:cs typeface="Aptos" pitchFamily="34" charset="-120"/>
              </a:rPr>
              <a:t>8</a:t>
            </a:r>
            <a:endParaRPr lang="en-US" sz="800" dirty="0"/>
          </a:p>
        </p:txBody>
      </p:sp>
      <p:sp>
        <p:nvSpPr>
          <p:cNvPr id="9" name="Shape 7"/>
          <p:cNvSpPr/>
          <p:nvPr/>
        </p:nvSpPr>
        <p:spPr>
          <a:xfrm>
            <a:off x="640080" y="1417320"/>
            <a:ext cx="5349240" cy="1097280"/>
          </a:xfrm>
          <a:prstGeom prst="roundRect">
            <a:avLst>
              <a:gd name="adj" fmla="val 6667"/>
            </a:avLst>
          </a:prstGeom>
          <a:solidFill>
            <a:srgbClr val="122038"/>
          </a:solidFill>
          <a:ln w="12700">
            <a:solidFill>
              <a:srgbClr val="22314B"/>
            </a:solidFill>
            <a:prstDash val="solid"/>
          </a:ln>
          <a:effectLst>
            <a:outerShdw sx="100000" sy="100000" kx="0" ky="0" algn="bl" rotWithShape="0" blurRad="25400" dist="12700" dir="2700000">
              <a:srgbClr val="000000">
                <a:alpha val="20000"/>
              </a:srgbClr>
            </a:outerShdw>
          </a:effectLst>
        </p:spPr>
      </p:sp>
      <p:sp>
        <p:nvSpPr>
          <p:cNvPr id="10" name="Shape 8"/>
          <p:cNvSpPr/>
          <p:nvPr/>
        </p:nvSpPr>
        <p:spPr>
          <a:xfrm>
            <a:off x="786384" y="1563624"/>
            <a:ext cx="73152" cy="804672"/>
          </a:xfrm>
          <a:prstGeom prst="roundRect">
            <a:avLst>
              <a:gd name="adj" fmla="val 25000"/>
            </a:avLst>
          </a:prstGeom>
          <a:solidFill>
            <a:srgbClr val="F97316"/>
          </a:solidFill>
          <a:ln w="12700">
            <a:solidFill>
              <a:srgbClr val="F97316">
                <a:alpha val="0"/>
              </a:srgbClr>
            </a:solidFill>
            <a:prstDash val="solid"/>
          </a:ln>
        </p:spPr>
      </p:sp>
      <p:sp>
        <p:nvSpPr>
          <p:cNvPr id="11" name="Text 9"/>
          <p:cNvSpPr/>
          <p:nvPr/>
        </p:nvSpPr>
        <p:spPr>
          <a:xfrm>
            <a:off x="932688" y="1563624"/>
            <a:ext cx="4910328" cy="201168"/>
          </a:xfrm>
          <a:prstGeom prst="rect">
            <a:avLst/>
          </a:prstGeom>
          <a:noFill/>
          <a:ln/>
        </p:spPr>
        <p:txBody>
          <a:bodyPr wrap="square" lIns="0" tIns="0" rIns="0" bIns="0" rtlCol="0" anchor="ctr"/>
          <a:lstStyle/>
          <a:p>
            <a:pPr indent="0" marL="0">
              <a:buNone/>
            </a:pPr>
            <a:r>
              <a:rPr lang="en-US" sz="1100" b="1" dirty="0">
                <a:solidFill>
                  <a:srgbClr val="F7FAFC"/>
                </a:solidFill>
                <a:latin typeface="Aptos" pitchFamily="34" charset="0"/>
                <a:ea typeface="Aptos" pitchFamily="34" charset="-122"/>
                <a:cs typeface="Aptos" pitchFamily="34" charset="-120"/>
              </a:rPr>
              <a:t>Bugunku karar</a:t>
            </a:r>
            <a:endParaRPr lang="en-US" sz="1100" dirty="0"/>
          </a:p>
        </p:txBody>
      </p:sp>
      <p:sp>
        <p:nvSpPr>
          <p:cNvPr id="12" name="Text 10"/>
          <p:cNvSpPr/>
          <p:nvPr/>
        </p:nvSpPr>
        <p:spPr>
          <a:xfrm>
            <a:off x="932688" y="1801368"/>
            <a:ext cx="4910328" cy="603504"/>
          </a:xfrm>
          <a:prstGeom prst="rect">
            <a:avLst/>
          </a:prstGeom>
          <a:noFill/>
          <a:ln/>
        </p:spPr>
        <p:txBody>
          <a:bodyPr wrap="square" lIns="0" tIns="0" rIns="0" bIns="0" rtlCol="0" anchor="t"/>
          <a:lstStyle/>
          <a:p>
            <a:pPr indent="0" marL="0">
              <a:buNone/>
            </a:pPr>
            <a:r>
              <a:rPr lang="en-US" sz="900" dirty="0">
                <a:solidFill>
                  <a:srgbClr val="B8C4D5"/>
                </a:solidFill>
                <a:latin typeface="Aptos" pitchFamily="34" charset="0"/>
                <a:ea typeface="Aptos" pitchFamily="34" charset="-122"/>
                <a:cs typeface="Aptos" pitchFamily="34" charset="-120"/>
              </a:rPr>
              <a:t>Grafana Anomaly Detector, bu benchmark ailesinde Elastic ML trial runtime'ina yakin degil; onu gecen bir kalite sergiliyor. Ustelik bu sonuc gorsel benchmark, sayisal benchmark ve regresyon zinciri ile birlikte dogrulaniyor.</a:t>
            </a:r>
            <a:endParaRPr lang="en-US" sz="900" dirty="0"/>
          </a:p>
        </p:txBody>
      </p:sp>
      <p:sp>
        <p:nvSpPr>
          <p:cNvPr id="13" name="Shape 11"/>
          <p:cNvSpPr/>
          <p:nvPr/>
        </p:nvSpPr>
        <p:spPr>
          <a:xfrm>
            <a:off x="640080" y="2743200"/>
            <a:ext cx="5349240" cy="1097280"/>
          </a:xfrm>
          <a:prstGeom prst="roundRect">
            <a:avLst>
              <a:gd name="adj" fmla="val 6667"/>
            </a:avLst>
          </a:prstGeom>
          <a:solidFill>
            <a:srgbClr val="122038"/>
          </a:solidFill>
          <a:ln w="12700">
            <a:solidFill>
              <a:srgbClr val="22314B"/>
            </a:solidFill>
            <a:prstDash val="solid"/>
          </a:ln>
          <a:effectLst>
            <a:outerShdw sx="100000" sy="100000" kx="0" ky="0" algn="bl" rotWithShape="0" blurRad="25400" dist="12700" dir="2700000">
              <a:srgbClr val="000000">
                <a:alpha val="20000"/>
              </a:srgbClr>
            </a:outerShdw>
          </a:effectLst>
        </p:spPr>
      </p:sp>
      <p:sp>
        <p:nvSpPr>
          <p:cNvPr id="14" name="Shape 12"/>
          <p:cNvSpPr/>
          <p:nvPr/>
        </p:nvSpPr>
        <p:spPr>
          <a:xfrm>
            <a:off x="786384" y="2889504"/>
            <a:ext cx="73152" cy="804672"/>
          </a:xfrm>
          <a:prstGeom prst="roundRect">
            <a:avLst>
              <a:gd name="adj" fmla="val 25000"/>
            </a:avLst>
          </a:prstGeom>
          <a:solidFill>
            <a:srgbClr val="38BDF8"/>
          </a:solidFill>
          <a:ln w="12700">
            <a:solidFill>
              <a:srgbClr val="38BDF8">
                <a:alpha val="0"/>
              </a:srgbClr>
            </a:solidFill>
            <a:prstDash val="solid"/>
          </a:ln>
        </p:spPr>
      </p:sp>
      <p:sp>
        <p:nvSpPr>
          <p:cNvPr id="15" name="Text 13"/>
          <p:cNvSpPr/>
          <p:nvPr/>
        </p:nvSpPr>
        <p:spPr>
          <a:xfrm>
            <a:off x="932688" y="2889504"/>
            <a:ext cx="4910328" cy="201168"/>
          </a:xfrm>
          <a:prstGeom prst="rect">
            <a:avLst/>
          </a:prstGeom>
          <a:noFill/>
          <a:ln/>
        </p:spPr>
        <p:txBody>
          <a:bodyPr wrap="square" lIns="0" tIns="0" rIns="0" bIns="0" rtlCol="0" anchor="ctr"/>
          <a:lstStyle/>
          <a:p>
            <a:pPr indent="0" marL="0">
              <a:buNone/>
            </a:pPr>
            <a:r>
              <a:rPr lang="en-US" sz="1100" b="1" dirty="0">
                <a:solidFill>
                  <a:srgbClr val="F7FAFC"/>
                </a:solidFill>
                <a:latin typeface="Aptos" pitchFamily="34" charset="0"/>
                <a:ea typeface="Aptos" pitchFamily="34" charset="-122"/>
                <a:cs typeface="Aptos" pitchFamily="34" charset="-120"/>
              </a:rPr>
              <a:t>Urun etkisi</a:t>
            </a:r>
            <a:endParaRPr lang="en-US" sz="1100" dirty="0"/>
          </a:p>
        </p:txBody>
      </p:sp>
      <p:sp>
        <p:nvSpPr>
          <p:cNvPr id="16" name="Text 14"/>
          <p:cNvSpPr/>
          <p:nvPr/>
        </p:nvSpPr>
        <p:spPr>
          <a:xfrm>
            <a:off x="932688" y="3127248"/>
            <a:ext cx="4910328" cy="603504"/>
          </a:xfrm>
          <a:prstGeom prst="rect">
            <a:avLst/>
          </a:prstGeom>
          <a:noFill/>
          <a:ln/>
        </p:spPr>
        <p:txBody>
          <a:bodyPr wrap="square" lIns="0" tIns="0" rIns="0" bIns="0" rtlCol="0" anchor="t"/>
          <a:lstStyle/>
          <a:p>
            <a:pPr indent="0" marL="0">
              <a:buNone/>
            </a:pPr>
            <a:r>
              <a:rPr lang="en-US" sz="900" dirty="0">
                <a:solidFill>
                  <a:srgbClr val="B8C4D5"/>
                </a:solidFill>
                <a:latin typeface="Aptos" pitchFamily="34" charset="0"/>
                <a:ea typeface="Aptos" pitchFamily="34" charset="-122"/>
                <a:cs typeface="Aptos" pitchFamily="34" charset="-120"/>
              </a:rPr>
              <a:t>Premium chart deneyimi sayesinde teknik olmayan kullanicilar da anomaly'yi daha kolay okuyabiliyor. Bu, benchmark basarisini dogrudan kullanici algisina tasiyor.</a:t>
            </a:r>
            <a:endParaRPr lang="en-US" sz="900" dirty="0"/>
          </a:p>
        </p:txBody>
      </p:sp>
      <p:sp>
        <p:nvSpPr>
          <p:cNvPr id="17" name="Shape 15"/>
          <p:cNvSpPr/>
          <p:nvPr/>
        </p:nvSpPr>
        <p:spPr>
          <a:xfrm>
            <a:off x="640080" y="4069080"/>
            <a:ext cx="5349240" cy="1097280"/>
          </a:xfrm>
          <a:prstGeom prst="roundRect">
            <a:avLst>
              <a:gd name="adj" fmla="val 6667"/>
            </a:avLst>
          </a:prstGeom>
          <a:solidFill>
            <a:srgbClr val="122038"/>
          </a:solidFill>
          <a:ln w="12700">
            <a:solidFill>
              <a:srgbClr val="22314B"/>
            </a:solidFill>
            <a:prstDash val="solid"/>
          </a:ln>
          <a:effectLst>
            <a:outerShdw sx="100000" sy="100000" kx="0" ky="0" algn="bl" rotWithShape="0" blurRad="25400" dist="12700" dir="2700000">
              <a:srgbClr val="000000">
                <a:alpha val="20000"/>
              </a:srgbClr>
            </a:outerShdw>
          </a:effectLst>
        </p:spPr>
      </p:sp>
      <p:sp>
        <p:nvSpPr>
          <p:cNvPr id="18" name="Shape 16"/>
          <p:cNvSpPr/>
          <p:nvPr/>
        </p:nvSpPr>
        <p:spPr>
          <a:xfrm>
            <a:off x="786384" y="4215384"/>
            <a:ext cx="73152" cy="804672"/>
          </a:xfrm>
          <a:prstGeom prst="roundRect">
            <a:avLst>
              <a:gd name="adj" fmla="val 25000"/>
            </a:avLst>
          </a:prstGeom>
          <a:solidFill>
            <a:srgbClr val="EF4444"/>
          </a:solidFill>
          <a:ln w="12700">
            <a:solidFill>
              <a:srgbClr val="EF4444">
                <a:alpha val="0"/>
              </a:srgbClr>
            </a:solidFill>
            <a:prstDash val="solid"/>
          </a:ln>
        </p:spPr>
      </p:sp>
      <p:sp>
        <p:nvSpPr>
          <p:cNvPr id="19" name="Text 17"/>
          <p:cNvSpPr/>
          <p:nvPr/>
        </p:nvSpPr>
        <p:spPr>
          <a:xfrm>
            <a:off x="932688" y="4215384"/>
            <a:ext cx="4910328" cy="201168"/>
          </a:xfrm>
          <a:prstGeom prst="rect">
            <a:avLst/>
          </a:prstGeom>
          <a:noFill/>
          <a:ln/>
        </p:spPr>
        <p:txBody>
          <a:bodyPr wrap="square" lIns="0" tIns="0" rIns="0" bIns="0" rtlCol="0" anchor="ctr"/>
          <a:lstStyle/>
          <a:p>
            <a:pPr indent="0" marL="0">
              <a:buNone/>
            </a:pPr>
            <a:r>
              <a:rPr lang="en-US" sz="1100" b="1" dirty="0">
                <a:solidFill>
                  <a:srgbClr val="F7FAFC"/>
                </a:solidFill>
                <a:latin typeface="Aptos" pitchFamily="34" charset="0"/>
                <a:ea typeface="Aptos" pitchFamily="34" charset="-122"/>
                <a:cs typeface="Aptos" pitchFamily="34" charset="-120"/>
              </a:rPr>
              <a:t>Kalan tek buyuk risk</a:t>
            </a:r>
            <a:endParaRPr lang="en-US" sz="1100" dirty="0"/>
          </a:p>
        </p:txBody>
      </p:sp>
      <p:sp>
        <p:nvSpPr>
          <p:cNvPr id="20" name="Text 18"/>
          <p:cNvSpPr/>
          <p:nvPr/>
        </p:nvSpPr>
        <p:spPr>
          <a:xfrm>
            <a:off x="932688" y="4453128"/>
            <a:ext cx="4910328" cy="603504"/>
          </a:xfrm>
          <a:prstGeom prst="rect">
            <a:avLst/>
          </a:prstGeom>
          <a:noFill/>
          <a:ln/>
        </p:spPr>
        <p:txBody>
          <a:bodyPr wrap="square" lIns="0" tIns="0" rIns="0" bIns="0" rtlCol="0" anchor="t"/>
          <a:lstStyle/>
          <a:p>
            <a:pPr indent="0" marL="0">
              <a:buNone/>
            </a:pPr>
            <a:r>
              <a:rPr lang="en-US" sz="900" dirty="0">
                <a:solidFill>
                  <a:srgbClr val="B8C4D5"/>
                </a:solidFill>
                <a:latin typeface="Aptos" pitchFamily="34" charset="0"/>
                <a:ea typeface="Aptos" pitchFamily="34" charset="-122"/>
                <a:cs typeface="Aptos" pitchFamily="34" charset="-120"/>
              </a:rPr>
              <a:t>Ana acik artik algoritmik kalite degil. Esas kalan konu, 350-400 detector seviyesi icin daha uzun sureli operasyonel soak guvencesi.</a:t>
            </a:r>
            <a:endParaRPr lang="en-US" sz="900" dirty="0"/>
          </a:p>
        </p:txBody>
      </p:sp>
      <p:sp>
        <p:nvSpPr>
          <p:cNvPr id="21" name="Shape 19"/>
          <p:cNvSpPr/>
          <p:nvPr/>
        </p:nvSpPr>
        <p:spPr>
          <a:xfrm>
            <a:off x="6263640" y="1417320"/>
            <a:ext cx="5303520" cy="3749040"/>
          </a:xfrm>
          <a:prstGeom prst="roundRect">
            <a:avLst>
              <a:gd name="adj" fmla="val 1951"/>
            </a:avLst>
          </a:prstGeom>
          <a:solidFill>
            <a:srgbClr val="0F1A2B"/>
          </a:solidFill>
          <a:ln w="12700">
            <a:solidFill>
              <a:srgbClr val="22314B"/>
            </a:solidFill>
            <a:prstDash val="solid"/>
          </a:ln>
          <a:effectLst>
            <a:outerShdw sx="100000" sy="100000" kx="0" ky="0" algn="bl" rotWithShape="0" blurRad="25400" dist="12700" dir="2700000">
              <a:srgbClr val="000000">
                <a:alpha val="20000"/>
              </a:srgbClr>
            </a:outerShdw>
          </a:effectLst>
        </p:spPr>
      </p:sp>
      <p:sp>
        <p:nvSpPr>
          <p:cNvPr id="22" name="Text 20"/>
          <p:cNvSpPr/>
          <p:nvPr/>
        </p:nvSpPr>
        <p:spPr>
          <a:xfrm>
            <a:off x="6473952" y="1591056"/>
            <a:ext cx="2377440" cy="182880"/>
          </a:xfrm>
          <a:prstGeom prst="rect">
            <a:avLst/>
          </a:prstGeom>
          <a:noFill/>
          <a:ln/>
        </p:spPr>
        <p:txBody>
          <a:bodyPr wrap="square" lIns="0" tIns="0" rIns="0" bIns="0" rtlCol="0" anchor="ctr"/>
          <a:lstStyle/>
          <a:p>
            <a:pPr indent="0" marL="0">
              <a:buNone/>
            </a:pPr>
            <a:r>
              <a:rPr lang="en-US" sz="1200" b="1" dirty="0">
                <a:solidFill>
                  <a:srgbClr val="F7FAFC"/>
                </a:solidFill>
                <a:latin typeface="Aptos" pitchFamily="34" charset="0"/>
                <a:ea typeface="Aptos" pitchFamily="34" charset="-122"/>
                <a:cs typeface="Aptos" pitchFamily="34" charset="-120"/>
              </a:rPr>
              <a:t>Onerilen aksiyon listesi</a:t>
            </a:r>
            <a:endParaRPr lang="en-US" sz="1200" dirty="0"/>
          </a:p>
        </p:txBody>
      </p:sp>
      <p:sp>
        <p:nvSpPr>
          <p:cNvPr id="23" name="Text 21"/>
          <p:cNvSpPr/>
          <p:nvPr/>
        </p:nvSpPr>
        <p:spPr>
          <a:xfrm>
            <a:off x="6473952" y="1901952"/>
            <a:ext cx="4663440" cy="1280160"/>
          </a:xfrm>
          <a:prstGeom prst="rect">
            <a:avLst/>
          </a:prstGeom>
          <a:noFill/>
          <a:ln/>
        </p:spPr>
        <p:txBody>
          <a:bodyPr wrap="square" lIns="0" tIns="0" rIns="0" bIns="0" rtlCol="0" anchor="t"/>
          <a:lstStyle/>
          <a:p>
            <a:pPr marL="152400" indent="-152400">
              <a:buSzPct val="100000"/>
              <a:buChar char="•"/>
            </a:pPr>
            <a:r>
              <a:rPr lang="en-US" sz="1000" dirty="0">
                <a:solidFill>
                  <a:srgbClr val="B8C4D5"/>
                </a:solidFill>
                <a:latin typeface="Aptos" pitchFamily="34" charset="0"/>
                <a:ea typeface="Aptos" pitchFamily="34" charset="-122"/>
                <a:cs typeface="Aptos" pitchFamily="34" charset="-120"/>
              </a:rPr>
              <a:t>8 saat ve uzeri uzun soak kosusunu tamamla</a:t>
            </a:r>
            <a:endParaRPr lang="en-US" sz="1000" dirty="0"/>
          </a:p>
          <a:p>
            <a:pPr marL="152400" indent="-152400">
              <a:buSzPct val="100000"/>
              <a:buChar char="•"/>
            </a:pPr>
            <a:r>
              <a:rPr lang="en-US" sz="1000" dirty="0">
                <a:solidFill>
                  <a:srgbClr val="B8C4D5"/>
                </a:solidFill>
                <a:latin typeface="Aptos" pitchFamily="34" charset="0"/>
                <a:ea typeface="Aptos" pitchFamily="34" charset="-122"/>
                <a:cs typeface="Aptos" pitchFamily="34" charset="-120"/>
              </a:rPr>
              <a:t>Multi-entity ve rare-event benchmark senaryolarini ekle</a:t>
            </a:r>
            <a:endParaRPr lang="en-US" sz="1000" dirty="0"/>
          </a:p>
          <a:p>
            <a:pPr marL="152400" indent="-152400">
              <a:buSzPct val="100000"/>
              <a:buChar char="•"/>
            </a:pPr>
            <a:r>
              <a:rPr lang="en-US" sz="1000" dirty="0">
                <a:solidFill>
                  <a:srgbClr val="B8C4D5"/>
                </a:solidFill>
                <a:latin typeface="Aptos" pitchFamily="34" charset="0"/>
                <a:ea typeface="Aptos" pitchFamily="34" charset="-122"/>
                <a:cs typeface="Aptos" pitchFamily="34" charset="-120"/>
              </a:rPr>
              <a:t>Beta yayinda kullanici geri bildirimini topla</a:t>
            </a:r>
            <a:endParaRPr lang="en-US" sz="1000" dirty="0"/>
          </a:p>
          <a:p>
            <a:pPr marL="152400" indent="-152400">
              <a:buSzPct val="100000"/>
              <a:buChar char="•"/>
            </a:pPr>
            <a:r>
              <a:rPr lang="en-US" sz="1000" dirty="0">
                <a:solidFill>
                  <a:srgbClr val="B8C4D5"/>
                </a:solidFill>
                <a:latin typeface="Aptos" pitchFamily="34" charset="0"/>
                <a:ea typeface="Aptos" pitchFamily="34" charset="-122"/>
                <a:cs typeface="Aptos" pitchFamily="34" charset="-120"/>
              </a:rPr>
              <a:t>Masaustu teslim klasorunu guncel benchmark paketi ile yayina hazir tut</a:t>
            </a:r>
            <a:endParaRPr lang="en-US" sz="1000" dirty="0"/>
          </a:p>
          <a:p>
            <a:pPr marL="152400" indent="-152400">
              <a:buSzPct val="100000"/>
              <a:buChar char="•"/>
            </a:pPr>
            <a:r>
              <a:rPr lang="en-US" sz="1000" dirty="0">
                <a:solidFill>
                  <a:srgbClr val="B8C4D5"/>
                </a:solidFill>
                <a:latin typeface="Aptos" pitchFamily="34" charset="0"/>
                <a:ea typeface="Aptos" pitchFamily="34" charset="-122"/>
                <a:cs typeface="Aptos" pitchFamily="34" charset="-120"/>
              </a:rPr>
              <a:t>Bu deck'i yonetim sunumu ve teknik demo icin ortak belge olarak kullan</a:t>
            </a:r>
            <a:endParaRPr lang="en-US" sz="1000" dirty="0"/>
          </a:p>
        </p:txBody>
      </p:sp>
      <p:sp>
        <p:nvSpPr>
          <p:cNvPr id="24" name="Shape 22"/>
          <p:cNvSpPr/>
          <p:nvPr/>
        </p:nvSpPr>
        <p:spPr>
          <a:xfrm>
            <a:off x="6473952" y="4407408"/>
            <a:ext cx="4663440" cy="512064"/>
          </a:xfrm>
          <a:prstGeom prst="roundRect">
            <a:avLst>
              <a:gd name="adj" fmla="val 14286"/>
            </a:avLst>
          </a:prstGeom>
          <a:solidFill>
            <a:srgbClr val="22C55E">
              <a:alpha val="18000"/>
            </a:srgbClr>
          </a:solidFill>
          <a:ln w="12700">
            <a:solidFill>
              <a:srgbClr val="22C55E">
                <a:alpha val="0"/>
              </a:srgbClr>
            </a:solidFill>
            <a:prstDash val="solid"/>
          </a:ln>
        </p:spPr>
      </p:sp>
      <p:sp>
        <p:nvSpPr>
          <p:cNvPr id="25" name="Text 23"/>
          <p:cNvSpPr/>
          <p:nvPr/>
        </p:nvSpPr>
        <p:spPr>
          <a:xfrm>
            <a:off x="6656832" y="4553712"/>
            <a:ext cx="4315968" cy="164592"/>
          </a:xfrm>
          <a:prstGeom prst="rect">
            <a:avLst/>
          </a:prstGeom>
          <a:noFill/>
          <a:ln/>
        </p:spPr>
        <p:txBody>
          <a:bodyPr wrap="square" lIns="0" tIns="0" rIns="0" bIns="0" rtlCol="0" anchor="ctr"/>
          <a:lstStyle/>
          <a:p>
            <a:pPr algn="ctr" indent="0" marL="0">
              <a:buNone/>
            </a:pPr>
            <a:r>
              <a:rPr lang="en-US" sz="1000" b="1" dirty="0">
                <a:solidFill>
                  <a:srgbClr val="F7FAFC"/>
                </a:solidFill>
                <a:latin typeface="Aptos" pitchFamily="34" charset="0"/>
                <a:ea typeface="Aptos" pitchFamily="34" charset="-122"/>
                <a:cs typeface="Aptos" pitchFamily="34" charset="-120"/>
              </a:rPr>
              <a:t>Tek cumlelik ozet: Final detector bugun benchmarkta guclu, yarin prod'da kalici olmak icin uzun soak bekliyor.</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Grafana Anomaly Detector Benchmark</dc:title>
  <dc:subject>Grafana Anomaly Detector final benchmark presentation</dc:subject>
  <dc:creator>OpenAI Codex</dc:creator>
  <cp:lastModifiedBy>OpenAI Codex</cp:lastModifiedBy>
  <cp:revision>1</cp:revision>
  <dcterms:created xsi:type="dcterms:W3CDTF">2026-03-28T15:40:02Z</dcterms:created>
  <dcterms:modified xsi:type="dcterms:W3CDTF">2026-03-28T15:40:02Z</dcterms:modified>
</cp:coreProperties>
</file>