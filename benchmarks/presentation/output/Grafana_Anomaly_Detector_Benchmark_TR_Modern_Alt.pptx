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Grafana final</c:v>
                </c:pt>
              </c:strCache>
            </c:strRef>
          </c:tx>
          <c:spPr>
            <a:solidFill>
              <a:srgbClr val="16A34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Dogruluk</c:v>
                  </c:pt>
                  <c:pt idx="1">
                    <c:v>Yakalama gucu</c:v>
                  </c:pt>
                  <c:pt idx="2">
                    <c:v>Genel denge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</c:v>
                </c:pt>
                <c:pt idx="1">
                  <c:v>1</c:v>
                </c:pt>
                <c:pt idx="2">
                  <c:v>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Elastic best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Dogruluk</c:v>
                  </c:pt>
                  <c:pt idx="1">
                    <c:v>Yakalama gucu</c:v>
                  </c:pt>
                  <c:pt idx="2">
                    <c:v>Genel denge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0.8043</c:v>
                </c:pt>
                <c:pt idx="1">
                  <c:v>0.6496</c:v>
                </c:pt>
                <c:pt idx="2">
                  <c:v>0.7067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05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>
              <a:latin typeface="Aptos"/>
              <a:cs typeface="Aptos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Eval duration (s)</c:v>
                </c:pt>
              </c:strCache>
            </c:strRef>
          </c:tx>
          <c:spPr>
            <a:solidFill>
              <a:srgbClr val="0EA5E9"/>
            </a:solidFill>
            <a:ln w="31750" cap="flat">
              <a:solidFill>
                <a:srgbClr val="0EA5E9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EA5E9"/>
              </a:solidFill>
              <a:ln w="9525" cap="flat">
                <a:solidFill>
                  <a:srgbClr val="0EA5E9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75</c:v>
                  </c:pt>
                  <c:pt idx="1">
                    <c:v>100</c:v>
                  </c:pt>
                  <c:pt idx="2">
                    <c:v>150</c:v>
                  </c:pt>
                  <c:pt idx="3">
                    <c:v>200</c:v>
                  </c:pt>
                  <c:pt idx="4">
                    <c:v>300</c:v>
                  </c:pt>
                  <c:pt idx="5">
                    <c:v>400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0.189857</c:v>
                </c:pt>
                <c:pt idx="1">
                  <c:v>0.243183</c:v>
                </c:pt>
                <c:pt idx="2">
                  <c:v>0.382123</c:v>
                </c:pt>
                <c:pt idx="3">
                  <c:v>0.527709</c:v>
                </c:pt>
                <c:pt idx="4">
                  <c:v>0.913882</c:v>
                </c:pt>
                <c:pt idx="5">
                  <c:v>1.020447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.4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0"/>
          </a:solidFill>
          <a:ln w="12700">
            <a:solidFill>
              <a:srgbClr val="0C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228600"/>
            <a:ext cx="2926080" cy="150876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91440"/>
            <a:ext cx="3200400" cy="2194560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310896"/>
            <a:ext cx="10972800" cy="18288"/>
          </a:xfrm>
          <a:prstGeom prst="rect">
            <a:avLst/>
          </a:prstGeom>
          <a:solidFill>
            <a:srgbClr val="28364B"/>
          </a:solidFill>
          <a:ln w="12700">
            <a:solidFill>
              <a:srgbClr val="2836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801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ALTERNATIF SUNUM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4754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Grafana Anomaly Detector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8961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Mevcut benchmark hikayesinin daha cagdas, daha sakin ve ust yonetim odakli tasarlanmis alternatif sunumu.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sunum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37392" y="64556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7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" y="1444752"/>
            <a:ext cx="5120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ML ile ayni labeled dataset uzerindeki benchmark sonuclarinin modern tasarimli ozet gorunumu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21792" y="1975104"/>
            <a:ext cx="4526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alternatif deck, mevcut benchmark sonuclarini degistirmez. Ayni veri, ayni sayisal sonuc ve ayni gorsel kanit korunur; yalnizca sunum dili daha editoryal ve daha sakin hale getirilir.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21792" y="5047488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52238"/>
          </a:solidFill>
          <a:ln w="12700">
            <a:solidFill>
              <a:srgbClr val="2836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86384" y="517550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detector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786384" y="5376672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 / 6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86384" y="570585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senaryosu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2377440" y="5047488"/>
            <a:ext cx="1600200" cy="960120"/>
          </a:xfrm>
          <a:prstGeom prst="roundRect">
            <a:avLst>
              <a:gd name="adj" fmla="val 7619"/>
            </a:avLst>
          </a:prstGeom>
          <a:solidFill>
            <a:srgbClr val="152238"/>
          </a:solidFill>
          <a:ln w="12700">
            <a:solidFill>
              <a:srgbClr val="2836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542032" y="5175504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 F1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542032" y="5376672"/>
            <a:ext cx="1271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1.00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2542032" y="5705856"/>
            <a:ext cx="12710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runtime sonucu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33088" y="5047488"/>
            <a:ext cx="1783080" cy="960120"/>
          </a:xfrm>
          <a:prstGeom prst="roundRect">
            <a:avLst>
              <a:gd name="adj" fmla="val 7619"/>
            </a:avLst>
          </a:prstGeom>
          <a:solidFill>
            <a:srgbClr val="152238"/>
          </a:solidFill>
          <a:ln w="12700">
            <a:solidFill>
              <a:srgbClr val="2836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297680" y="5175504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best F1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297680" y="5376672"/>
            <a:ext cx="1453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0.71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4297680" y="5705856"/>
            <a:ext cx="145389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veri, en iyi threshold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263640" y="1225296"/>
            <a:ext cx="5285232" cy="5440680"/>
          </a:xfrm>
          <a:prstGeom prst="roundRect">
            <a:avLst>
              <a:gd name="adj" fmla="val 1384"/>
            </a:avLst>
          </a:prstGeom>
          <a:solidFill>
            <a:srgbClr val="152238"/>
          </a:solidFill>
          <a:ln w="12700">
            <a:solidFill>
              <a:srgbClr val="2836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pic>
        <p:nvPicPr>
          <p:cNvPr id="26" name="Image 0" descr="C:\Users\alpas\Documents\CodexSample\grafana-anomaly-lab\benchmarks\presentation\assets\screenshots\grafana-multi-metric-premium.png">    </p:cNvPr>
          <p:cNvPicPr>
            <a:picLocks noChangeAspect="1"/>
          </p:cNvPicPr>
          <p:nvPr/>
        </p:nvPicPr>
        <p:blipFill>
          <a:blip r:embed="rId1"/>
          <a:srcRect l="9596" r="9596" t="0" b="0"/>
          <a:stretch/>
        </p:blipFill>
        <p:spPr>
          <a:xfrm>
            <a:off x="6419088" y="1371600"/>
            <a:ext cx="4974336" cy="5129784"/>
          </a:xfrm>
          <a:prstGeom prst="rect">
            <a:avLst/>
          </a:prstGeom>
        </p:spPr>
      </p:pic>
      <p:sp>
        <p:nvSpPr>
          <p:cNvPr id="27" name="Shape 24"/>
          <p:cNvSpPr/>
          <p:nvPr/>
        </p:nvSpPr>
        <p:spPr>
          <a:xfrm>
            <a:off x="8275320" y="1426464"/>
            <a:ext cx="1783080" cy="256032"/>
          </a:xfrm>
          <a:prstGeom prst="roundRect">
            <a:avLst>
              <a:gd name="adj" fmla="val 28571"/>
            </a:avLst>
          </a:prstGeom>
          <a:solidFill>
            <a:srgbClr val="F97316">
              <a:alpha val="26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8275320" y="1463040"/>
            <a:ext cx="1783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GRAFANA EKRANI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11480"/>
            <a:ext cx="3017520" cy="155448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5166360"/>
            <a:ext cx="2834640" cy="132588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310896"/>
            <a:ext cx="10972800" cy="18288"/>
          </a:xfrm>
          <a:prstGeom prst="rect">
            <a:avLst/>
          </a:prstGeom>
          <a:solidFill>
            <a:srgbClr val="D6CEC0"/>
          </a:solidFill>
          <a:ln w="12700">
            <a:solidFill>
              <a:srgbClr val="D6CEC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801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OLCULDU?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4754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Karsilastirma cercevesi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21792" y="8961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benchmark'in gucu, veri farkini degil detector davranisini olcuyor olmasindan gelir.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sunum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37392" y="64556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21792" y="1426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97316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3400" dirty="0"/>
          </a:p>
        </p:txBody>
      </p:sp>
      <p:sp>
        <p:nvSpPr>
          <p:cNvPr id="12" name="Text 10"/>
          <p:cNvSpPr/>
          <p:nvPr/>
        </p:nvSpPr>
        <p:spPr>
          <a:xfrm>
            <a:off x="1444752" y="1517904"/>
            <a:ext cx="2377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Ayni labeled dataset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444752" y="1773936"/>
            <a:ext cx="23774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spike, error burst, traffic drop, seasonal spike, resource step-up ve subtle level shift ayni etiketlerle iki tarafa da verildi.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4133088" y="1426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EA5E9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3400" dirty="0"/>
          </a:p>
        </p:txBody>
      </p:sp>
      <p:sp>
        <p:nvSpPr>
          <p:cNvPr id="15" name="Text 13"/>
          <p:cNvSpPr/>
          <p:nvPr/>
        </p:nvSpPr>
        <p:spPr>
          <a:xfrm>
            <a:off x="4956048" y="1517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Elastic runtime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56048" y="1773936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tarafi local trial runtime ile kosuldu; record export alinip threshold sweep yapildi ve en iyi sonuc ayrica raporlandi.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7735824" y="1426464"/>
            <a:ext cx="822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3400" dirty="0"/>
          </a:p>
        </p:txBody>
      </p:sp>
      <p:sp>
        <p:nvSpPr>
          <p:cNvPr id="18" name="Text 16"/>
          <p:cNvSpPr/>
          <p:nvPr/>
        </p:nvSpPr>
        <p:spPr>
          <a:xfrm>
            <a:off x="8558784" y="15179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Grafana runtime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558784" y="1773936"/>
            <a:ext cx="24231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plugin ve exporter son runtime ayarlariyla tekrar kosuldu; gorsel davranis ve precision/recall/F1 ayni raporda birlestirildi.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21792" y="2743200"/>
            <a:ext cx="10972800" cy="2697480"/>
          </a:xfrm>
          <a:prstGeom prst="roundRect">
            <a:avLst>
              <a:gd name="adj" fmla="val 2712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868680" y="2944368"/>
            <a:ext cx="2926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benchmark neden daha anlamli?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96112" y="3310128"/>
            <a:ext cx="484632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Iki tarafa da ayni zaman serisi ve ayni anomaly etiketleri verildi.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Karsilastirma dataset degil, detector davranisi uzerinden yapildi.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Sayisal kalite ve gorsel davranis ayni benchmark paketinde toplandi.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035040" y="3127248"/>
            <a:ext cx="5047488" cy="1965960"/>
          </a:xfrm>
          <a:prstGeom prst="roundRect">
            <a:avLst>
              <a:gd name="adj" fmla="val 3721"/>
            </a:avLst>
          </a:prstGeom>
          <a:solidFill>
            <a:srgbClr val="EEE8DC"/>
          </a:solidFill>
          <a:ln w="12700">
            <a:solidFill>
              <a:srgbClr val="D6CEC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91072" y="3346704"/>
            <a:ext cx="2011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karar dili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6291072" y="3639312"/>
            <a:ext cx="42976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nedenle eldeki sonuc 'iki urun farkli veriyle bakildi' gibi zayif bir kiyas degil. Ayni veri setinde iki yaklasimin nasil davrandigini goren dogrudan bir benchmark paketi.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11480"/>
            <a:ext cx="3017520" cy="155448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5166360"/>
            <a:ext cx="2834640" cy="132588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310896"/>
            <a:ext cx="10972800" cy="18288"/>
          </a:xfrm>
          <a:prstGeom prst="rect">
            <a:avLst/>
          </a:prstGeom>
          <a:solidFill>
            <a:srgbClr val="D6CEC0"/>
          </a:solidFill>
          <a:ln w="12700">
            <a:solidFill>
              <a:srgbClr val="D6CEC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801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EKRAN KARSILASTIRMASI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4754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Ayni veri uzerinde davranis farki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21792" y="8961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slayttaki iki ekran da gercek urun arayuzlerinden alinmis orijinal screenshot'lardir.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sunum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37392" y="64556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1792" y="132588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36245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SPIKE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" y="1719072"/>
            <a:ext cx="5321808" cy="3401568"/>
          </a:xfrm>
          <a:prstGeom prst="roundRect">
            <a:avLst>
              <a:gd name="adj" fmla="val 2151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19019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53712" y="19019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1.00</a:t>
            </a:r>
            <a:endParaRPr lang="en-US" sz="1000" dirty="0"/>
          </a:p>
        </p:txBody>
      </p:sp>
      <p:pic>
        <p:nvPicPr>
          <p:cNvPr id="16" name="Image 0" descr="C:\Users\alpas\Documents\CodexSample\grafana-anomaly-lab\benchmarks\presentation\assets\screenshots\grafana-latency-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924" y="2212848"/>
            <a:ext cx="4567544" cy="267004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245352" y="1719072"/>
            <a:ext cx="5321808" cy="3401568"/>
          </a:xfrm>
          <a:prstGeom prst="roundRect">
            <a:avLst>
              <a:gd name="adj" fmla="val 2151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73952" y="1901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149840" y="19019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0.57</a:t>
            </a:r>
            <a:endParaRPr lang="en-US" sz="1000" dirty="0"/>
          </a:p>
        </p:txBody>
      </p:sp>
      <p:pic>
        <p:nvPicPr>
          <p:cNvPr id="20" name="Image 1" descr="C:\Users\alpas\Documents\CodexSample\grafana-anomaly-lab\benchmarks\presentation\assets\screenshots\elastic-latency-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4538" y="2212848"/>
            <a:ext cx="4121725" cy="267004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21792" y="541324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68096" y="5559552"/>
            <a:ext cx="73152" cy="7680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32688" y="55595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goruluyor?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32688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paneli burst'u tek olay gibi daha temiz ayiriyor ve beklenen banttan kopusu daha net okutturuyor.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325112" y="541324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471416" y="5559552"/>
            <a:ext cx="73152" cy="7680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36008" y="55595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onemli?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636008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Operasyonda farkin onemi, alarm geldiginde olay penceresinin daha stabil ve daha az parca parca gorulmesi.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028432" y="5413248"/>
            <a:ext cx="3538728" cy="1078992"/>
          </a:xfrm>
          <a:prstGeom prst="roundRect">
            <a:avLst>
              <a:gd name="adj" fmla="val 6780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174736" y="5559552"/>
            <a:ext cx="73152" cy="7680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339328" y="5559552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yorum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339328" y="579729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senaryoda final detector hem gorsel olarak daha okunur hem de sayisal olarak daha yuksek kalite veriyor.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11480"/>
            <a:ext cx="3017520" cy="1554480"/>
          </a:xfrm>
          <a:prstGeom prst="ellipse">
            <a:avLst/>
          </a:prstGeom>
          <a:solidFill>
            <a:srgbClr val="0EA5E9">
              <a:alpha val="15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5166360"/>
            <a:ext cx="2834640" cy="132588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310896"/>
            <a:ext cx="10972800" cy="18288"/>
          </a:xfrm>
          <a:prstGeom prst="rect">
            <a:avLst/>
          </a:prstGeom>
          <a:solidFill>
            <a:srgbClr val="D6CEC0"/>
          </a:solidFill>
          <a:ln w="12700">
            <a:solidFill>
              <a:srgbClr val="D6CEC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801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EKRAN KARSILASTIRMASI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4754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Kalici seviye kaymasi nasil okunuyor?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21792" y="8961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Subtle level shift, benchmark ailesindeki en kritik iyilestirme alanlarindan biriydi; final surum bu senaryo icin ozel olarak guclendirildi.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sunum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37392" y="64556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21792" y="1325880"/>
            <a:ext cx="1600200" cy="256032"/>
          </a:xfrm>
          <a:prstGeom prst="roundRect">
            <a:avLst>
              <a:gd name="adj" fmla="val 28571"/>
            </a:avLst>
          </a:prstGeom>
          <a:solidFill>
            <a:srgbClr val="0EA5E9">
              <a:alpha val="18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362456"/>
            <a:ext cx="1600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LEVEL SHIFT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21792" y="1719072"/>
            <a:ext cx="5321808" cy="3401568"/>
          </a:xfrm>
          <a:prstGeom prst="roundRect">
            <a:avLst>
              <a:gd name="adj" fmla="val 2151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41248" y="1901952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53712" y="1901952"/>
            <a:ext cx="107899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1.00</a:t>
            </a:r>
            <a:endParaRPr lang="en-US" sz="1000" dirty="0"/>
          </a:p>
        </p:txBody>
      </p:sp>
      <p:pic>
        <p:nvPicPr>
          <p:cNvPr id="16" name="Image 0" descr="C:\Users\alpas\Documents\CodexSample\grafana-anomaly-lab\benchmarks\presentation\assets\screenshots\grafana-levelshift-r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8924" y="2212848"/>
            <a:ext cx="4567544" cy="2670048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6245352" y="1719072"/>
            <a:ext cx="5321808" cy="3401568"/>
          </a:xfrm>
          <a:prstGeom prst="roundRect">
            <a:avLst>
              <a:gd name="adj" fmla="val 2151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73952" y="19019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Elastic ML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10149840" y="190195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F59E0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F1 0.87</a:t>
            </a:r>
            <a:endParaRPr lang="en-US" sz="1000" dirty="0"/>
          </a:p>
        </p:txBody>
      </p:sp>
      <p:pic>
        <p:nvPicPr>
          <p:cNvPr id="20" name="Image 1" descr="C:\Users\alpas\Documents\CodexSample\grafana-anomaly-lab\benchmarks\presentation\assets\screenshots\elastic-levelshift-r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3308" y="2212848"/>
            <a:ext cx="3944184" cy="2670048"/>
          </a:xfrm>
          <a:prstGeom prst="rect">
            <a:avLst/>
          </a:prstGeom>
        </p:spPr>
      </p:pic>
      <p:sp>
        <p:nvSpPr>
          <p:cNvPr id="21" name="Shape 17"/>
          <p:cNvSpPr/>
          <p:nvPr/>
        </p:nvSpPr>
        <p:spPr>
          <a:xfrm>
            <a:off x="621792" y="541324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2" name="Shape 18"/>
          <p:cNvSpPr/>
          <p:nvPr/>
        </p:nvSpPr>
        <p:spPr>
          <a:xfrm>
            <a:off x="768096" y="5559552"/>
            <a:ext cx="73152" cy="7680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932688" y="55595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goruluyor?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932688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detector baseline kirilmasini daha tutarli izliyor; Elastic ayni pencereyi goruyor ama daha parca parca isaretleme yapiyor.</a:t>
            </a:r>
            <a:endParaRPr lang="en-US" sz="900" dirty="0"/>
          </a:p>
        </p:txBody>
      </p:sp>
      <p:sp>
        <p:nvSpPr>
          <p:cNvPr id="25" name="Shape 21"/>
          <p:cNvSpPr/>
          <p:nvPr/>
        </p:nvSpPr>
        <p:spPr>
          <a:xfrm>
            <a:off x="4325112" y="5413248"/>
            <a:ext cx="3566160" cy="1078992"/>
          </a:xfrm>
          <a:prstGeom prst="roundRect">
            <a:avLst>
              <a:gd name="adj" fmla="val 6780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4471416" y="5559552"/>
            <a:ext cx="73152" cy="7680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636008" y="5559552"/>
            <a:ext cx="3108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Neden onemli?</a:t>
            </a:r>
            <a:endParaRPr lang="en-US" sz="1000" dirty="0"/>
          </a:p>
        </p:txBody>
      </p:sp>
      <p:sp>
        <p:nvSpPr>
          <p:cNvPr id="28" name="Text 24"/>
          <p:cNvSpPr/>
          <p:nvPr/>
        </p:nvSpPr>
        <p:spPr>
          <a:xfrm>
            <a:off x="4636008" y="5797296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Kalici seviye kaymasi gibi zor anomalilerde okunabilirlik ve olay butunlugu, kullanim guvenini dogrudan etkiliyor.</a:t>
            </a:r>
            <a:endParaRPr lang="en-US" sz="900" dirty="0"/>
          </a:p>
        </p:txBody>
      </p:sp>
      <p:sp>
        <p:nvSpPr>
          <p:cNvPr id="29" name="Shape 25"/>
          <p:cNvSpPr/>
          <p:nvPr/>
        </p:nvSpPr>
        <p:spPr>
          <a:xfrm>
            <a:off x="8028432" y="5413248"/>
            <a:ext cx="3538728" cy="1078992"/>
          </a:xfrm>
          <a:prstGeom prst="roundRect">
            <a:avLst>
              <a:gd name="adj" fmla="val 6780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30" name="Shape 26"/>
          <p:cNvSpPr/>
          <p:nvPr/>
        </p:nvSpPr>
        <p:spPr>
          <a:xfrm>
            <a:off x="8174736" y="5559552"/>
            <a:ext cx="73152" cy="7680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8339328" y="5559552"/>
            <a:ext cx="3081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yorum</a:t>
            </a:r>
            <a:endParaRPr lang="en-US" sz="1000" dirty="0"/>
          </a:p>
        </p:txBody>
      </p:sp>
      <p:sp>
        <p:nvSpPr>
          <p:cNvPr id="32" name="Text 28"/>
          <p:cNvSpPr/>
          <p:nvPr/>
        </p:nvSpPr>
        <p:spPr>
          <a:xfrm>
            <a:off x="8339328" y="5797296"/>
            <a:ext cx="3081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senaryoda iki taraf da problemi goruyor; fakat final detector daha tutarli ve toplam kalite skoru daha yuksek.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11480"/>
            <a:ext cx="3017520" cy="155448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5166360"/>
            <a:ext cx="2834640" cy="132588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310896"/>
            <a:ext cx="10972800" cy="18288"/>
          </a:xfrm>
          <a:prstGeom prst="rect">
            <a:avLst/>
          </a:prstGeom>
          <a:solidFill>
            <a:srgbClr val="D6CEC0"/>
          </a:solidFill>
          <a:ln w="12700">
            <a:solidFill>
              <a:srgbClr val="D6CEC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801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SAYISAL OZET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4754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Sayilarin acik Turkce ile okunusu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21792" y="8961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Teknik olmayan ekipler icin metriklerin ne anlattigi ayni slaytta kisa olarak aciklanir.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sunum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37392" y="64556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58368" y="1481328"/>
          <a:ext cx="56235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656832" y="1600200"/>
            <a:ext cx="4681728" cy="1078992"/>
          </a:xfrm>
          <a:prstGeom prst="roundRect">
            <a:avLst>
              <a:gd name="adj" fmla="val 6780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6803136" y="1746504"/>
            <a:ext cx="73152" cy="768096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967728" y="1746504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Dogruluk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967728" y="1984248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Alarm geldiginde bunun gercekten problem olma ihtimali. Daha yuksek olmasi daha az bos alarm demek.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656832" y="2852928"/>
            <a:ext cx="4681728" cy="1078992"/>
          </a:xfrm>
          <a:prstGeom prst="roundRect">
            <a:avLst>
              <a:gd name="adj" fmla="val 6780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6803136" y="2999232"/>
            <a:ext cx="73152" cy="768096"/>
          </a:xfrm>
          <a:prstGeom prst="rect">
            <a:avLst/>
          </a:prstGeom>
          <a:solidFill>
            <a:srgbClr val="0EA5E9"/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967728" y="2999232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Yakalama gucu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967728" y="3236976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Gercek problemleri kacirmama gucu. Daha yuksek olmasi daha az gozden kacirma demek.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656832" y="4105656"/>
            <a:ext cx="4681728" cy="1078992"/>
          </a:xfrm>
          <a:prstGeom prst="roundRect">
            <a:avLst>
              <a:gd name="adj" fmla="val 6780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03136" y="4251960"/>
            <a:ext cx="73152" cy="768096"/>
          </a:xfrm>
          <a:prstGeom prst="rect">
            <a:avLst/>
          </a:prstGeom>
          <a:solidFill>
            <a:srgbClr val="F97316"/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967728" y="4251960"/>
            <a:ext cx="42245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Genel denge skoru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6967728" y="4489704"/>
            <a:ext cx="4224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Dogruluk ve yakalama gucunu tek sayida toplayan genel kalite gostergesi. Teknik ekipler F1 diye bilir.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658368" y="5715000"/>
            <a:ext cx="10972800" cy="512064"/>
          </a:xfrm>
          <a:prstGeom prst="roundRect">
            <a:avLst>
              <a:gd name="adj" fmla="val 14286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868680" y="5879592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Senaryo sonucu</a:t>
            </a:r>
            <a:endParaRPr lang="en-US" sz="900" dirty="0"/>
          </a:p>
        </p:txBody>
      </p:sp>
      <p:sp>
        <p:nvSpPr>
          <p:cNvPr id="26" name="Shape 23"/>
          <p:cNvSpPr/>
          <p:nvPr/>
        </p:nvSpPr>
        <p:spPr>
          <a:xfrm>
            <a:off x="1901952" y="5797296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1956816" y="5888736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Latency spike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3474720" y="5797296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3529584" y="5888736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 burst</a:t>
            </a:r>
            <a:endParaRPr lang="en-US" sz="700" dirty="0"/>
          </a:p>
        </p:txBody>
      </p:sp>
      <p:sp>
        <p:nvSpPr>
          <p:cNvPr id="30" name="Shape 27"/>
          <p:cNvSpPr/>
          <p:nvPr/>
        </p:nvSpPr>
        <p:spPr>
          <a:xfrm>
            <a:off x="5047488" y="5797296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5102352" y="5888736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Traffic drop</a:t>
            </a:r>
            <a:endParaRPr lang="en-US" sz="700" dirty="0"/>
          </a:p>
        </p:txBody>
      </p:sp>
      <p:sp>
        <p:nvSpPr>
          <p:cNvPr id="32" name="Shape 29"/>
          <p:cNvSpPr/>
          <p:nvPr/>
        </p:nvSpPr>
        <p:spPr>
          <a:xfrm>
            <a:off x="6620256" y="5797296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0EA5E9">
              <a:alpha val="16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675120" y="5888736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Seasonal hourly spike</a:t>
            </a:r>
            <a:endParaRPr lang="en-US" sz="700" dirty="0"/>
          </a:p>
        </p:txBody>
      </p:sp>
      <p:sp>
        <p:nvSpPr>
          <p:cNvPr id="34" name="Shape 31"/>
          <p:cNvSpPr/>
          <p:nvPr/>
        </p:nvSpPr>
        <p:spPr>
          <a:xfrm>
            <a:off x="8193024" y="5797296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247888" y="5888736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Resource step-up</a:t>
            </a:r>
            <a:endParaRPr lang="en-US" sz="700" dirty="0"/>
          </a:p>
        </p:txBody>
      </p:sp>
      <p:sp>
        <p:nvSpPr>
          <p:cNvPr id="36" name="Shape 33"/>
          <p:cNvSpPr/>
          <p:nvPr/>
        </p:nvSpPr>
        <p:spPr>
          <a:xfrm>
            <a:off x="9765792" y="5797296"/>
            <a:ext cx="1353312" cy="292608"/>
          </a:xfrm>
          <a:prstGeom prst="roundRect">
            <a:avLst>
              <a:gd name="adj" fmla="val 25000"/>
            </a:avLst>
          </a:prstGeom>
          <a:solidFill>
            <a:srgbClr val="F97316">
              <a:alpha val="16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820656" y="5888736"/>
            <a:ext cx="124358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Subtle level shift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3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320"/>
          </a:solidFill>
          <a:ln w="12700">
            <a:solidFill>
              <a:srgbClr val="0C132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365760" y="-228600"/>
            <a:ext cx="2926080" cy="1508760"/>
          </a:xfrm>
          <a:prstGeom prst="ellipse">
            <a:avLst/>
          </a:prstGeom>
          <a:solidFill>
            <a:srgbClr val="F97316">
              <a:alpha val="18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91440"/>
            <a:ext cx="3200400" cy="2194560"/>
          </a:xfrm>
          <a:prstGeom prst="ellipse">
            <a:avLst/>
          </a:prstGeom>
          <a:solidFill>
            <a:srgbClr val="0EA5E9">
              <a:alpha val="14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310896"/>
            <a:ext cx="10972800" cy="18288"/>
          </a:xfrm>
          <a:prstGeom prst="rect">
            <a:avLst/>
          </a:prstGeom>
          <a:solidFill>
            <a:srgbClr val="28364B"/>
          </a:solidFill>
          <a:ln w="12700">
            <a:solidFill>
              <a:srgbClr val="28364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801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A5E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KAPASITE GORUNUMU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4754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Kisa soak testinde gozlenen band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21792" y="8961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slayt sadece bugun olculen davranisi anlatir; nihai prod ceiling iddiasi yapmaz.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A7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sunum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37392" y="64556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A7B2C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58368" y="1444752"/>
          <a:ext cx="5852160" cy="43891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Shape 9"/>
          <p:cNvSpPr/>
          <p:nvPr/>
        </p:nvSpPr>
        <p:spPr>
          <a:xfrm>
            <a:off x="6876288" y="1572768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152238"/>
          </a:solidFill>
          <a:ln w="12700">
            <a:solidFill>
              <a:srgbClr val="2836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7040880" y="17007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 detector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040880" y="1901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1800" dirty="0"/>
          </a:p>
        </p:txBody>
      </p:sp>
      <p:sp>
        <p:nvSpPr>
          <p:cNvPr id="15" name="Text 12"/>
          <p:cNvSpPr/>
          <p:nvPr/>
        </p:nvSpPr>
        <p:spPr>
          <a:xfrm>
            <a:off x="7040880" y="22311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</a:t>
            </a:r>
            <a:endParaRPr lang="en-US" sz="800" dirty="0"/>
          </a:p>
        </p:txBody>
      </p:sp>
      <p:sp>
        <p:nvSpPr>
          <p:cNvPr id="16" name="Shape 13"/>
          <p:cNvSpPr/>
          <p:nvPr/>
        </p:nvSpPr>
        <p:spPr>
          <a:xfrm>
            <a:off x="8449056" y="1572768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152238"/>
          </a:solidFill>
          <a:ln w="12700">
            <a:solidFill>
              <a:srgbClr val="2836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8613648" y="17007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350 detector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13648" y="1901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6A34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8613648" y="22311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021824" y="1572768"/>
            <a:ext cx="1426464" cy="960120"/>
          </a:xfrm>
          <a:prstGeom prst="roundRect">
            <a:avLst>
              <a:gd name="adj" fmla="val 7619"/>
            </a:avLst>
          </a:prstGeom>
          <a:solidFill>
            <a:srgbClr val="152238"/>
          </a:solidFill>
          <a:ln w="12700">
            <a:solidFill>
              <a:srgbClr val="2836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2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10186416" y="1700784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400 detector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0186416" y="1901952"/>
            <a:ext cx="1097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59E0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PASS</a:t>
            </a:r>
            <a:endParaRPr lang="en-US" sz="1800" dirty="0"/>
          </a:p>
        </p:txBody>
      </p:sp>
      <p:sp>
        <p:nvSpPr>
          <p:cNvPr id="23" name="Text 20"/>
          <p:cNvSpPr/>
          <p:nvPr/>
        </p:nvSpPr>
        <p:spPr>
          <a:xfrm>
            <a:off x="10186416" y="2231136"/>
            <a:ext cx="10972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C7D0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Kisa soak</a:t>
            </a:r>
            <a:endParaRPr lang="en-US" sz="800" dirty="0"/>
          </a:p>
        </p:txBody>
      </p:sp>
      <p:sp>
        <p:nvSpPr>
          <p:cNvPr id="24" name="Shape 21"/>
          <p:cNvSpPr/>
          <p:nvPr/>
        </p:nvSpPr>
        <p:spPr>
          <a:xfrm>
            <a:off x="6876288" y="2880360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152238"/>
          </a:solidFill>
          <a:ln w="12700">
            <a:solidFill>
              <a:srgbClr val="2836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7095744" y="3054096"/>
            <a:ext cx="1554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biliyoruz?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7095744" y="332841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Dashboard, render ve alert-ready query acikken 300, 350 ve 400 detector seviyeleri kisa soak penceresinde temiz gecti.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6876288" y="4187952"/>
            <a:ext cx="4572000" cy="1097280"/>
          </a:xfrm>
          <a:prstGeom prst="roundRect">
            <a:avLst>
              <a:gd name="adj" fmla="val 6667"/>
            </a:avLst>
          </a:prstGeom>
          <a:solidFill>
            <a:srgbClr val="152238"/>
          </a:solidFill>
          <a:ln w="12700">
            <a:solidFill>
              <a:srgbClr val="28364B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20000"/>
              </a:srgbClr>
            </a:outerShdw>
          </a:effectLst>
        </p:spPr>
      </p:sp>
      <p:sp>
        <p:nvSpPr>
          <p:cNvPr id="28" name="Text 25"/>
          <p:cNvSpPr/>
          <p:nvPr/>
        </p:nvSpPr>
        <p:spPr>
          <a:xfrm>
            <a:off x="7095744" y="4370832"/>
            <a:ext cx="17373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 soylemiyoruz?</a:t>
            </a:r>
            <a:endParaRPr lang="en-US" sz="1100" dirty="0"/>
          </a:p>
        </p:txBody>
      </p:sp>
      <p:sp>
        <p:nvSpPr>
          <p:cNvPr id="29" name="Text 26"/>
          <p:cNvSpPr/>
          <p:nvPr/>
        </p:nvSpPr>
        <p:spPr>
          <a:xfrm>
            <a:off x="7095744" y="4645152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C8D1D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 sonuc tek basina kalici prod ceiling anlamina gelmez. 8 saat ve uzeri uzun soak testi halen gerekli.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6876288" y="5495544"/>
            <a:ext cx="4572000" cy="640080"/>
          </a:xfrm>
          <a:prstGeom prst="roundRect">
            <a:avLst>
              <a:gd name="adj" fmla="val 11429"/>
            </a:avLst>
          </a:prstGeom>
          <a:solidFill>
            <a:srgbClr val="1B2D49"/>
          </a:solidFill>
          <a:ln w="12700">
            <a:solidFill>
              <a:srgbClr val="0EA5E9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18000"/>
              </a:srgbClr>
            </a:outerShdw>
          </a:effectLst>
        </p:spPr>
      </p:sp>
      <p:sp>
        <p:nvSpPr>
          <p:cNvPr id="31" name="Text 28"/>
          <p:cNvSpPr/>
          <p:nvPr/>
        </p:nvSpPr>
        <p:spPr>
          <a:xfrm>
            <a:off x="7114032" y="5705856"/>
            <a:ext cx="407822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Bugun icin pratik planlama bandi: 350-400 detector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1E8"/>
          </a:solidFill>
          <a:ln w="12700">
            <a:solidFill>
              <a:srgbClr val="F5F1E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548640" y="-411480"/>
            <a:ext cx="3017520" cy="1554480"/>
          </a:xfrm>
          <a:prstGeom prst="ellipse">
            <a:avLst/>
          </a:prstGeom>
          <a:solidFill>
            <a:srgbClr val="F97316">
              <a:alpha val="15000"/>
            </a:srgbClr>
          </a:solidFill>
          <a:ln w="12700">
            <a:solidFill>
              <a:srgbClr val="F97316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692640" y="5166360"/>
            <a:ext cx="2834640" cy="1325880"/>
          </a:xfrm>
          <a:prstGeom prst="ellipse">
            <a:avLst/>
          </a:prstGeom>
          <a:solidFill>
            <a:srgbClr val="0EA5E9">
              <a:alpha val="12000"/>
            </a:srgbClr>
          </a:solidFill>
          <a:ln w="12700">
            <a:solidFill>
              <a:srgbClr val="0EA5E9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03504" y="310896"/>
            <a:ext cx="10972800" cy="18288"/>
          </a:xfrm>
          <a:prstGeom prst="rect">
            <a:avLst/>
          </a:prstGeom>
          <a:solidFill>
            <a:srgbClr val="D6CEC0"/>
          </a:solidFill>
          <a:ln w="12700">
            <a:solidFill>
              <a:srgbClr val="D6CEC0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21792" y="128016"/>
            <a:ext cx="32918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9731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BUGUN NE SOYLENEBILIR?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21792" y="475488"/>
            <a:ext cx="6583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0182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Karar cercevesi</a:t>
            </a:r>
            <a:endParaRPr lang="en-US" sz="2300" dirty="0"/>
          </a:p>
        </p:txBody>
      </p:sp>
      <p:sp>
        <p:nvSpPr>
          <p:cNvPr id="8" name="Text 6"/>
          <p:cNvSpPr/>
          <p:nvPr/>
        </p:nvSpPr>
        <p:spPr>
          <a:xfrm>
            <a:off x="621792" y="896112"/>
            <a:ext cx="7132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slayt, eldeki benchmark paketinin neyi kanitladigini ve neyin halen acik kaldigini ayristirir.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21792" y="6492240"/>
            <a:ext cx="53035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Grafana Anomaly Detector | Benchmark alternatif sunum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1137392" y="6455664"/>
            <a:ext cx="3840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658368" y="1426464"/>
            <a:ext cx="5349240" cy="4498848"/>
          </a:xfrm>
          <a:prstGeom prst="roundRect">
            <a:avLst>
              <a:gd name="adj" fmla="val 1626"/>
            </a:avLst>
          </a:prstGeom>
          <a:solidFill>
            <a:srgbClr val="FFFCF7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896112" y="16824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Olculmus ve gosterilmis durum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96112" y="2029968"/>
            <a:ext cx="46634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detector ayni dataset uzerinde Elastic ML trial runtime'inin onunde bir genel kalite skoru uretiyor.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Gorsel karsilastirma ekranlari gercek Grafana ve gercek Elastic arayuzlerinden alindi.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chart iyilestirmeleri benchmark sonrasinda urune alinmis durumda.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300, 350 ve 400 detector seviyesi kisa soak penceresinde temiz gorundu.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63056" y="1426464"/>
            <a:ext cx="5349240" cy="4498848"/>
          </a:xfrm>
          <a:prstGeom prst="roundRect">
            <a:avLst>
              <a:gd name="adj" fmla="val 1626"/>
            </a:avLst>
          </a:prstGeom>
          <a:solidFill>
            <a:srgbClr val="EEE8DC"/>
          </a:solidFill>
          <a:ln w="12700">
            <a:solidFill>
              <a:srgbClr val="D6CEC0"/>
            </a:solidFill>
            <a:prstDash val="solid"/>
          </a:ln>
          <a:effectLst>
            <a:outerShdw sx="100000" sy="100000" kx="0" ky="0" algn="bl" rotWithShape="0" blurRad="25400" dist="12700" dir="2700000">
              <a:srgbClr val="000000">
                <a:alpha val="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682496"/>
            <a:ext cx="2651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182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Halen acik kalan basliklar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0" y="2029968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Uzun sureli soak henuz tamamlanmis degil; kalici ceiling icin ayrica kosulmali.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Rare-event ve multi-entity benchmark ailesi buyutulebilir.</a:t>
            </a:r>
            <a:endParaRPr lang="en-US" sz="1000" dirty="0"/>
          </a:p>
          <a:p>
            <a:pPr marL="152400" indent="-152400">
              <a:buSzPct val="100000"/>
              <a:buChar char="•"/>
            </a:pPr>
            <a:r>
              <a:rPr lang="en-US" sz="10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Beta kullanimindan gelecek operasyonel geri bildirim, sonraki tuning turu icin hala degerli.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8368" y="6089904"/>
            <a:ext cx="10853928" cy="384048"/>
          </a:xfrm>
          <a:prstGeom prst="roundRect">
            <a:avLst>
              <a:gd name="adj" fmla="val 19048"/>
            </a:avLst>
          </a:prstGeom>
          <a:solidFill>
            <a:srgbClr val="101828"/>
          </a:solidFill>
          <a:ln w="12700">
            <a:solidFill>
              <a:srgbClr val="10182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" y="6217920"/>
            <a:ext cx="10332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Tek cumlelik ozet: Bu benchmark paketi bugun guclu bir kalite ve okunabilirlik resmi veriyor; kalici operasyon limiti icin ise uzun soak adimi siradaki en dogru is.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Grafana Anomaly Detector Benchmark Modern Alternative</dc:title>
  <dc:subject>Grafana Anomaly Detector modern alternative benchmark presentation</dc:subject>
  <dc:creator>OpenAI Codex</dc:creator>
  <cp:lastModifiedBy>OpenAI Codex</cp:lastModifiedBy>
  <cp:revision>1</cp:revision>
  <dcterms:created xsi:type="dcterms:W3CDTF">2026-03-29T19:38:53Z</dcterms:created>
  <dcterms:modified xsi:type="dcterms:W3CDTF">2026-03-29T19:38:53Z</dcterms:modified>
</cp:coreProperties>
</file>